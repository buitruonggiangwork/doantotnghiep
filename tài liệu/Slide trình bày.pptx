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42"/>
  </p:notesMasterIdLst>
  <p:sldIdLst>
    <p:sldId id="256" r:id="rId2"/>
    <p:sldId id="330" r:id="rId3"/>
    <p:sldId id="258" r:id="rId4"/>
    <p:sldId id="259" r:id="rId5"/>
    <p:sldId id="309" r:id="rId6"/>
    <p:sldId id="305" r:id="rId7"/>
    <p:sldId id="331" r:id="rId8"/>
    <p:sldId id="353" r:id="rId9"/>
    <p:sldId id="306" r:id="rId10"/>
    <p:sldId id="332" r:id="rId11"/>
    <p:sldId id="335" r:id="rId12"/>
    <p:sldId id="336" r:id="rId13"/>
    <p:sldId id="334" r:id="rId14"/>
    <p:sldId id="333" r:id="rId15"/>
    <p:sldId id="337" r:id="rId16"/>
    <p:sldId id="338" r:id="rId17"/>
    <p:sldId id="340" r:id="rId18"/>
    <p:sldId id="354" r:id="rId19"/>
    <p:sldId id="339" r:id="rId20"/>
    <p:sldId id="321" r:id="rId21"/>
    <p:sldId id="341" r:id="rId22"/>
    <p:sldId id="317" r:id="rId23"/>
    <p:sldId id="319" r:id="rId24"/>
    <p:sldId id="342" r:id="rId25"/>
    <p:sldId id="320" r:id="rId26"/>
    <p:sldId id="355" r:id="rId27"/>
    <p:sldId id="325" r:id="rId28"/>
    <p:sldId id="326" r:id="rId29"/>
    <p:sldId id="327" r:id="rId30"/>
    <p:sldId id="343" r:id="rId31"/>
    <p:sldId id="329" r:id="rId32"/>
    <p:sldId id="344" r:id="rId33"/>
    <p:sldId id="345" r:id="rId34"/>
    <p:sldId id="346" r:id="rId35"/>
    <p:sldId id="347" r:id="rId36"/>
    <p:sldId id="348" r:id="rId37"/>
    <p:sldId id="349" r:id="rId38"/>
    <p:sldId id="350" r:id="rId39"/>
    <p:sldId id="351" r:id="rId40"/>
    <p:sldId id="352" r:id="rId41"/>
  </p:sldIdLst>
  <p:sldSz cx="9144000" cy="5143500" type="screen16x9"/>
  <p:notesSz cx="6858000" cy="9144000"/>
  <p:embeddedFontLst>
    <p:embeddedFont>
      <p:font typeface="Figtree Black" panose="020B0604020202020204" charset="0"/>
      <p:bold r:id="rId43"/>
      <p:boldItalic r:id="rId44"/>
    </p:embeddedFont>
    <p:embeddedFont>
      <p:font typeface="Hanken Grotesk" panose="020B0604020202020204" charset="0"/>
      <p:regular r:id="rId45"/>
      <p:bold r:id="rId46"/>
      <p:italic r:id="rId47"/>
      <p:boldItalic r:id="rId48"/>
    </p:embeddedFont>
    <p:embeddedFont>
      <p:font typeface="Lato" panose="020F0502020204030203" pitchFamily="34" charset="0"/>
      <p:regular r:id="rId49"/>
      <p:bold r:id="rId50"/>
      <p:italic r:id="rId51"/>
      <p:boldItalic r:id="rId52"/>
    </p:embeddedFont>
    <p:embeddedFont>
      <p:font typeface="Oswald" pitchFamily="2" charset="0"/>
      <p:regular r:id="rId53"/>
      <p:bold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0422EF5-0865-4F65-969D-77A4994D77BE}">
  <a:tblStyle styleId="{A0422EF5-0865-4F65-969D-77A4994D77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954" y="-6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2D5A2AEB-FF84-464C-9045-AFB52F97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0E721103-B11C-B280-4AAF-1198716A38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501E57B9-4375-CB58-B6F9-2A521C2AF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5879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68bdccc6f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768bdccc6f_2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832C5C6A-7C78-5683-9472-BE05AA3E6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F1F7C1B3-1A32-8DAE-6B99-70986923DA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DD5B7268-33B4-B0B9-0EDF-2EF977B82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68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C7578D4D-7C7C-9892-2F71-6CBAF0BA2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B2514438-1955-A82B-62BA-990D7D3C02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3FBB9565-91C8-C270-2B85-22AF197D0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4866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11E896DD-622B-C0F3-D643-868EFA23E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E2471DB8-E5A9-D141-9E5D-4CE89BA914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1E704889-810D-B388-9C6F-3BC04A454C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6774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B999737A-F0FE-F3E0-3597-03A18117E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1869F319-F453-E66B-5D8D-32C8367A7F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A521EFAD-A94A-60FC-5B44-00E88CE995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9989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F9BE30C2-3EAE-A88C-CE6F-CF11C2472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83568701-A74F-0A30-3EB1-A5B1F68E7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8F878D41-1E14-5BB9-1E1A-9EF7824023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844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317C736F-69A4-F079-9D6E-9DA0325BA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888C377D-89AA-2606-8713-AFE926713C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88ECE6F1-D040-C1BB-B049-3974D077B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2541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2E04E100-BBFE-A596-7DDD-837D3D95A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538E1CA3-E5E3-CB30-739A-961E0DC4DA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2FCAAB20-9405-82D2-59D3-859A60EC5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3802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9A3A8885-AEA9-3094-94C4-0328F2BE4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60875B88-3286-C339-37D4-CCC6A5A8C6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7550751D-B95D-9A66-1822-5454C30199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4085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CD5EE595-1115-51D0-8CC5-29D08F62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8A1317AE-0DEC-8455-5145-8AAE96D9E6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7CCFC444-65FF-EF6F-1B72-46242FA48A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3817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3B26223D-F079-EE6D-C232-FAC7F815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F2B568F0-DB3B-A9B9-29C6-5869B78FEE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D7B86596-4C5D-8279-7E2F-D0AF18B3B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7541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7695BC66-AF13-A546-2FC8-7412FF879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619CF748-A32F-33B0-C571-A3EA64AE7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77C19CA1-D0F6-C75F-754C-13B5DE85A8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1031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5375F187-3D8C-71BD-E323-47CB56114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CE555A7E-F14E-1E3C-375D-3DF13EFBC7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DBDE0B8B-360A-D34D-EEA1-35E299ADA4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47269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88B94965-EBD5-C801-4709-DB90132ED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DFFAFF38-B688-E1CE-A5D5-BF257F57E4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D4C8C698-C295-81B4-3571-F1BD6B392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42769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93753DE3-6FC7-8292-BC38-6546C8C17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70F7B40D-7F62-89BA-4889-0F0BFA34F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F844DE03-E4B0-AE48-DBF0-8665554054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49012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5E3CAAE0-0D9D-C5C0-0513-8258C242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919D2797-BD6E-E14A-32BB-41CCDEA46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2AAA138A-4132-BD89-37C0-448E3065A6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90982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2D793908-7813-C3F3-B5C3-ABCD856E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08A91DE8-EB30-0769-FFF2-1B6758E8F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EA7B413F-29EE-FCC7-3975-31A5BD6A7F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6600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2510590D-6046-A0F3-3E70-6F4747DA1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E3BA2742-9742-4315-3E95-648D4A6C66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08F4E075-C42B-CD08-9721-74EC303F6C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70834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388C7067-26AD-2F19-5CC7-EE2C0AB59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215BBCE9-6EDA-98AE-B6B3-20572A51DA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BB9F8548-DD27-13E8-BC3D-5036EB41D6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32935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7496C0D3-71FF-C7CD-ED38-E61C741B4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6AE554EA-4D32-92B7-F45E-81B09F801C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702B89B6-B834-6A45-699B-F6CBB5C1B0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24771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AA692AF8-8AD0-9F8B-9725-2235CB081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3D32E8F3-1EF2-5021-0C10-DBC957FD61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CA9D7412-0775-B271-6E8B-A6AA732FE0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9669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0CCD21EF-B896-CF3C-249C-90C6EA18A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A2B6A8A2-8156-B1CB-6C5D-B1A1CF6CD0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7198365B-4FBF-B2F4-9449-2F746622E5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8724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458830B0-807B-FB10-194D-327E1C85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5B3E2147-1D5D-39ED-A486-FEA18D0C98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67915F7D-F02C-41EA-AA5B-8970B490DF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03311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9ECC3381-4B86-A5ED-06FA-40B1C54C6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25BEC8AE-3F0B-FD4C-ACAB-DBC9D69B3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73F4CF21-B84A-5619-E5A6-BA8E54748A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1754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2E732A38-E219-68F4-3491-44DCDB924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948DD050-285C-D5ED-978F-4AAEE16685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14823ACF-2EB3-21D7-D308-A1F5E44201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51306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C675EF90-9CA3-2C75-90F7-D1EAD2C59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9DB802AC-ACCC-9554-2B6B-EFFF984FFB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E48CB880-8A61-AB1D-AAE3-2D5CE03998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0848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5AD26C5C-51CA-65CA-5F16-CCA87CCF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AABE5708-B82C-EE81-B92A-F4D829A5C9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41040D32-818B-F60C-859F-0B96B1BE1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36841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003AAB71-26AA-7FA9-6762-7492E3141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E5CBF353-FEF1-F51A-5C30-C71E89F1F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E93B69A4-3FDB-1FF8-8916-2F04CA532D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78575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8EE5D899-5D85-2888-EBBC-BF148639D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D6E5FDBE-ABEC-588C-D6EC-BAC3C624F1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0F4CF425-2B58-975C-D79F-88AC20F166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7818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E408A467-60CE-A32E-B7B0-0DDB0D4AF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3B3652D1-E67B-6840-BF86-E8D8E7B870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B7E0803B-C324-6EAF-02BD-D637B064F5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3964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ECE5632F-1086-5768-A454-087EC05D4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B069FD19-0000-1BA0-EB83-EE097979F6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99C0FA6C-B9FC-1212-0D39-CE3D7D67E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60759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FB602A94-F68D-A6E0-46CC-BB51129E8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2C82DFBB-A49C-32D2-7B0E-494AB00878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42DCC16E-3FC6-88BC-C53E-7954A94D4F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21025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C2E41A6E-5739-D329-1E6D-3FD0E6C9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F9CEE4A3-58E2-5774-0CF2-9A358E896D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0061BBD5-87DF-B1A5-6602-ADFC28C6E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28235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8BC457ED-D518-9EF5-3267-6B9F455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E783F1EF-96B4-E8D8-E0BA-13BB320599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4BD96242-F74A-F3EA-456F-FB0B207E9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65524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B476A765-FA84-1451-5A7D-58A1D2153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2221C461-FFEA-7118-2837-E7E0C5CC9C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11C3F21D-6798-C4AE-1E6C-229741500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35262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08C90DD0-61D6-BBB6-7D6A-F7E3EF29E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13dfeee943_0_23:notes">
            <a:extLst>
              <a:ext uri="{FF2B5EF4-FFF2-40B4-BE49-F238E27FC236}">
                <a16:creationId xmlns:a16="http://schemas.microsoft.com/office/drawing/2014/main" id="{E652D48B-AEB4-84CE-B7EA-3FF0392E9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13dfeee943_0_23:notes">
            <a:extLst>
              <a:ext uri="{FF2B5EF4-FFF2-40B4-BE49-F238E27FC236}">
                <a16:creationId xmlns:a16="http://schemas.microsoft.com/office/drawing/2014/main" id="{C5D901C4-0FC6-E205-C978-BE072E7AE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891754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209C041B-C5ED-62A0-1C98-47E8AE1E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9F9F0A3E-2715-642D-4E38-FE95673944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D4F855EA-80D6-168F-0886-203FE1CB22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969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3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4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5" hasCustomPrompt="1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7" hasCustomPrompt="1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8" hasCustomPrompt="1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9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14" hasCustomPrompt="1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5" hasCustomPrompt="1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6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7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8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9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20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21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2" name="Google Shape;252;p26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253" name="Google Shape;253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4" name="Google Shape;254;p26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26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6" name="Google Shape;256;p26"/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72" r:id="rId6"/>
    <p:sldLayoutId id="2147483674" r:id="rId7"/>
    <p:sldLayoutId id="214748367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184075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</a:br>
            <a:b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</a:b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Đê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̀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tài</a:t>
            </a:r>
            <a:r>
              <a:rPr lang="en-US" sz="1800" b="1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: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Xây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Dựng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Bộ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Phát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Hiện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Giọng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Nói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Bị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Giả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Mạo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Được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Tạo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Bởi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Deepfake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Bằng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Mô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b="1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Hình</a:t>
            </a:r>
            <a:r>
              <a:rPr lang="en-US" sz="1800" b="1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LSTM</a:t>
            </a:r>
            <a:endParaRPr lang="en-US" b="1" dirty="0">
              <a:latin typeface="Oswald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09E9A1-8324-DA82-F3EB-5C3D3D8CD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371359"/>
              </p:ext>
            </p:extLst>
          </p:nvPr>
        </p:nvGraphicFramePr>
        <p:xfrm>
          <a:off x="1173406" y="3153678"/>
          <a:ext cx="3885118" cy="457200"/>
        </p:xfrm>
        <a:graphic>
          <a:graphicData uri="http://schemas.openxmlformats.org/drawingml/2006/table">
            <a:tbl>
              <a:tblPr>
                <a:tableStyleId>{A0422EF5-0865-4F65-969D-77A4994D77BE}</a:tableStyleId>
              </a:tblPr>
              <a:tblGrid>
                <a:gridCol w="1503049">
                  <a:extLst>
                    <a:ext uri="{9D8B030D-6E8A-4147-A177-3AD203B41FA5}">
                      <a16:colId xmlns:a16="http://schemas.microsoft.com/office/drawing/2014/main" val="3866561230"/>
                    </a:ext>
                  </a:extLst>
                </a:gridCol>
                <a:gridCol w="100117">
                  <a:extLst>
                    <a:ext uri="{9D8B030D-6E8A-4147-A177-3AD203B41FA5}">
                      <a16:colId xmlns:a16="http://schemas.microsoft.com/office/drawing/2014/main" val="2483915100"/>
                    </a:ext>
                  </a:extLst>
                </a:gridCol>
                <a:gridCol w="2281952">
                  <a:extLst>
                    <a:ext uri="{9D8B030D-6E8A-4147-A177-3AD203B41FA5}">
                      <a16:colId xmlns:a16="http://schemas.microsoft.com/office/drawing/2014/main" val="137838956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 rtl="0" fontAlgn="ctr"/>
                      <a:r>
                        <a:rPr lang="vi-VN" sz="1400" b="1" u="none" strike="noStrike" dirty="0">
                          <a:effectLst/>
                          <a:latin typeface="Oswald" pitchFamily="2" charset="0"/>
                        </a:rPr>
                        <a:t>Giáo viên hướng dẫn</a:t>
                      </a:r>
                      <a:r>
                        <a:rPr lang="vi-VN" sz="1400" u="none" strike="noStrike" dirty="0">
                          <a:effectLst/>
                          <a:latin typeface="Oswald" pitchFamily="2" charset="0"/>
                        </a:rPr>
                        <a:t>   </a:t>
                      </a:r>
                      <a:endParaRPr lang="vi-VN" sz="1400" b="1" i="0" u="none" strike="noStrike" dirty="0">
                        <a:solidFill>
                          <a:srgbClr val="333333"/>
                        </a:solidFill>
                        <a:effectLst/>
                        <a:latin typeface="Oswald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  <a:latin typeface="Oswald" pitchFamily="2" charset="0"/>
                        </a:rPr>
                        <a:t>: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Oswald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vi-VN" sz="1400" u="none" strike="noStrike" dirty="0">
                          <a:effectLst/>
                          <a:latin typeface="Oswald" pitchFamily="2" charset="0"/>
                        </a:rPr>
                        <a:t>TS. Nguyễn Mạnh Cường</a:t>
                      </a:r>
                      <a:endParaRPr lang="vi-VN" sz="1400" b="0" i="0" u="none" strike="noStrike" dirty="0">
                        <a:solidFill>
                          <a:srgbClr val="000000"/>
                        </a:solidFill>
                        <a:effectLst/>
                        <a:latin typeface="Oswald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314875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rtl="0" fontAlgn="ctr"/>
                      <a:r>
                        <a:rPr lang="vi-VN" sz="1400" b="1" u="none" strike="noStrike" dirty="0">
                          <a:effectLst/>
                          <a:latin typeface="Oswald" pitchFamily="2" charset="0"/>
                        </a:rPr>
                        <a:t>Sinh viên thực hiện  </a:t>
                      </a:r>
                      <a:r>
                        <a:rPr lang="vi-VN" sz="1400" u="none" strike="noStrike" dirty="0">
                          <a:effectLst/>
                          <a:latin typeface="Oswald" pitchFamily="2" charset="0"/>
                        </a:rPr>
                        <a:t>  </a:t>
                      </a:r>
                      <a:endParaRPr lang="vi-VN" sz="1400" b="1" i="0" u="none" strike="noStrike" dirty="0">
                        <a:solidFill>
                          <a:srgbClr val="333333"/>
                        </a:solidFill>
                        <a:effectLst/>
                        <a:latin typeface="Oswald" pitchFamily="2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  <a:latin typeface="Oswald" pitchFamily="2" charset="0"/>
                        </a:rPr>
                        <a:t>: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Oswald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vi-VN" sz="1400" u="none" strike="noStrike" dirty="0">
                          <a:effectLst/>
                          <a:latin typeface="Oswald" pitchFamily="2" charset="0"/>
                        </a:rPr>
                        <a:t>Bùi Trường Giang</a:t>
                      </a:r>
                      <a:endParaRPr lang="vi-VN" sz="1400" b="0" i="0" u="none" strike="noStrike" dirty="0">
                        <a:solidFill>
                          <a:srgbClr val="000000"/>
                        </a:solidFill>
                        <a:effectLst/>
                        <a:latin typeface="Oswald" pitchFamily="2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2435514"/>
                  </a:ext>
                </a:extLst>
              </a:tr>
            </a:tbl>
          </a:graphicData>
        </a:graphic>
      </p:graphicFrame>
      <p:sp>
        <p:nvSpPr>
          <p:cNvPr id="5" name="Google Shape;289;p33">
            <a:extLst>
              <a:ext uri="{FF2B5EF4-FFF2-40B4-BE49-F238E27FC236}">
                <a16:creationId xmlns:a16="http://schemas.microsoft.com/office/drawing/2014/main" id="{3763FCEF-EDF8-AB49-02E4-3ED091149684}"/>
              </a:ext>
            </a:extLst>
          </p:cNvPr>
          <p:cNvSpPr txBox="1">
            <a:spLocks/>
          </p:cNvSpPr>
          <p:nvPr/>
        </p:nvSpPr>
        <p:spPr>
          <a:xfrm>
            <a:off x="1087125" y="1220624"/>
            <a:ext cx="5053372" cy="899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3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Figtree Black"/>
              <a:buNone/>
              <a:defRPr sz="52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 sz="3200" b="1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KHÓA LUẬN TỐT NGHIỆP</a:t>
            </a:r>
            <a:endParaRPr lang="en-US" sz="5400" b="1" dirty="0">
              <a:latin typeface="Oswald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CCEDA239-D946-2913-67AD-BF45E9232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05E97B14-A1CC-7BBF-D53E-6581DB8D6E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Lý do chọn đề tài</a:t>
            </a:r>
            <a:endParaRPr b="1" dirty="0">
              <a:latin typeface="Oswald" pitchFamily="2" charset="0"/>
            </a:endParaRPr>
          </a:p>
        </p:txBody>
      </p:sp>
      <p:sp>
        <p:nvSpPr>
          <p:cNvPr id="2" name="Google Shape;660;p53">
            <a:extLst>
              <a:ext uri="{FF2B5EF4-FFF2-40B4-BE49-F238E27FC236}">
                <a16:creationId xmlns:a16="http://schemas.microsoft.com/office/drawing/2014/main" id="{A5F8F8A8-4BA5-C8CD-20F3-3A8C0DCA444D}"/>
              </a:ext>
            </a:extLst>
          </p:cNvPr>
          <p:cNvSpPr txBox="1"/>
          <p:nvPr/>
        </p:nvSpPr>
        <p:spPr>
          <a:xfrm>
            <a:off x="633476" y="1441599"/>
            <a:ext cx="5925700" cy="325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Deepfake là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công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nghê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̣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cho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phép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tổng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hợp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giọng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nói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, video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hình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ảnh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giống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một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người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cho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trước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dựa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trên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một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sô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́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ít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mẫu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ví dụ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vê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̀ họ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tx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Deepfake là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công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nghê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̣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nếu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bị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lợi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dụng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sẽ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tạo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ra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nhiều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rủi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ro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an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ninh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cho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con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người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hoặc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các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hê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̣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thống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sư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̉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dụng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khuôn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mặt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giọng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nói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như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một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bước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xác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thực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danh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tính</a:t>
            </a: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     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Cần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có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một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công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cụ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đê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̉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phát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hiện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nội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dung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tạo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bởi</a:t>
            </a:r>
            <a:r>
              <a:rPr lang="en-US" sz="1800" dirty="0">
                <a:solidFill>
                  <a:schemeClr val="tx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Deepfake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E75BC9A-6E0B-6257-317A-44EDE56D8D60}"/>
              </a:ext>
            </a:extLst>
          </p:cNvPr>
          <p:cNvSpPr/>
          <p:nvPr/>
        </p:nvSpPr>
        <p:spPr>
          <a:xfrm>
            <a:off x="714756" y="3779520"/>
            <a:ext cx="220980" cy="838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77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4" name="Google Shape;304;p35"/>
          <p:cNvCxnSpPr>
            <a:cxnSpLocks/>
            <a:stCxn id="313" idx="3"/>
          </p:cNvCxnSpPr>
          <p:nvPr/>
        </p:nvCxnSpPr>
        <p:spPr>
          <a:xfrm flipH="1">
            <a:off x="-167825" y="3160425"/>
            <a:ext cx="404257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" name="Google Shape;306;p35"/>
          <p:cNvCxnSpPr>
            <a:stCxn id="307" idx="3"/>
          </p:cNvCxnSpPr>
          <p:nvPr/>
        </p:nvCxnSpPr>
        <p:spPr>
          <a:xfrm>
            <a:off x="1285275" y="1502500"/>
            <a:ext cx="8009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8" name="Google Shape;308;p35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Nội dung</a:t>
            </a:r>
            <a:endParaRPr b="1" dirty="0">
              <a:latin typeface="Oswald" pitchFamily="2" charset="0"/>
            </a:endParaRPr>
          </a:p>
        </p:txBody>
      </p:sp>
      <p:sp>
        <p:nvSpPr>
          <p:cNvPr id="307" name="Google Shape;307;p35"/>
          <p:cNvSpPr txBox="1">
            <a:spLocks noGrp="1"/>
          </p:cNvSpPr>
          <p:nvPr>
            <p:ph type="title" idx="5"/>
          </p:nvPr>
        </p:nvSpPr>
        <p:spPr>
          <a:xfrm>
            <a:off x="919575" y="1319650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13" name="Google Shape;313;p35"/>
          <p:cNvSpPr txBox="1">
            <a:spLocks noGrp="1"/>
          </p:cNvSpPr>
          <p:nvPr>
            <p:ph type="title" idx="6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14" name="Google Shape;314;p35"/>
          <p:cNvSpPr txBox="1">
            <a:spLocks noGrp="1"/>
          </p:cNvSpPr>
          <p:nvPr>
            <p:ph type="title" idx="7"/>
          </p:nvPr>
        </p:nvSpPr>
        <p:spPr>
          <a:xfrm>
            <a:off x="919575" y="2977575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15" name="Google Shape;315;p35"/>
          <p:cNvSpPr txBox="1">
            <a:spLocks noGrp="1"/>
          </p:cNvSpPr>
          <p:nvPr>
            <p:ph type="title" idx="8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8" name="Google Shape;318;p35"/>
          <p:cNvSpPr txBox="1">
            <a:spLocks noGrp="1"/>
          </p:cNvSpPr>
          <p:nvPr>
            <p:ph type="title" idx="15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9" name="Google Shape;319;p35"/>
          <p:cNvSpPr txBox="1">
            <a:spLocks noGrp="1"/>
          </p:cNvSpPr>
          <p:nvPr>
            <p:ph type="subTitle" idx="16"/>
          </p:nvPr>
        </p:nvSpPr>
        <p:spPr>
          <a:xfrm>
            <a:off x="788675" y="1848775"/>
            <a:ext cx="1947491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Phát biểu bài toán</a:t>
            </a:r>
            <a:endParaRPr b="1" dirty="0">
              <a:latin typeface="Oswald" pitchFamily="2" charset="0"/>
            </a:endParaRPr>
          </a:p>
        </p:txBody>
      </p:sp>
      <p:sp>
        <p:nvSpPr>
          <p:cNvPr id="320" name="Google Shape;320;p35"/>
          <p:cNvSpPr txBox="1">
            <a:spLocks noGrp="1"/>
          </p:cNvSpPr>
          <p:nvPr>
            <p:ph type="subTitle" idx="17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Đánh giá</a:t>
            </a:r>
            <a:endParaRPr b="1" dirty="0">
              <a:latin typeface="Oswald" pitchFamily="2" charset="0"/>
            </a:endParaRPr>
          </a:p>
        </p:txBody>
      </p:sp>
      <p:sp>
        <p:nvSpPr>
          <p:cNvPr id="321" name="Google Shape;321;p35"/>
          <p:cNvSpPr txBox="1">
            <a:spLocks noGrp="1"/>
          </p:cNvSpPr>
          <p:nvPr>
            <p:ph type="subTitle" idx="18"/>
          </p:nvPr>
        </p:nvSpPr>
        <p:spPr>
          <a:xfrm>
            <a:off x="3418500" y="3503023"/>
            <a:ext cx="773672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Demo</a:t>
            </a:r>
            <a:endParaRPr b="1" dirty="0">
              <a:latin typeface="Oswald" pitchFamily="2" charset="0"/>
            </a:endParaRPr>
          </a:p>
        </p:txBody>
      </p:sp>
      <p:sp>
        <p:nvSpPr>
          <p:cNvPr id="322" name="Google Shape;322;p35"/>
          <p:cNvSpPr txBox="1">
            <a:spLocks noGrp="1"/>
          </p:cNvSpPr>
          <p:nvPr>
            <p:ph type="subTitle" idx="19"/>
          </p:nvPr>
        </p:nvSpPr>
        <p:spPr>
          <a:xfrm>
            <a:off x="3418500" y="1848775"/>
            <a:ext cx="2215612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Phương pháp tiếp cận</a:t>
            </a:r>
            <a:endParaRPr b="1" dirty="0">
              <a:latin typeface="Oswald" pitchFamily="2" charset="0"/>
            </a:endParaRPr>
          </a:p>
        </p:txBody>
      </p:sp>
      <p:sp>
        <p:nvSpPr>
          <p:cNvPr id="324" name="Google Shape;324;p35"/>
          <p:cNvSpPr txBox="1">
            <a:spLocks noGrp="1"/>
          </p:cNvSpPr>
          <p:nvPr>
            <p:ph type="subTitle" idx="21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Thực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nghiệm</a:t>
            </a:r>
            <a:endParaRPr b="1" dirty="0">
              <a:latin typeface="Oswald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Phát biểu bài toán</a:t>
            </a:r>
            <a:endParaRPr b="1" dirty="0">
              <a:latin typeface="Oswald" pitchFamily="2" charset="0"/>
            </a:endParaRPr>
          </a:p>
        </p:txBody>
      </p:sp>
      <p:sp>
        <p:nvSpPr>
          <p:cNvPr id="331" name="Google Shape;331;p36"/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1B08F388-AF9F-ADA6-5736-FF0C7D845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22890572-A088-C150-890B-ED30E79CFD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Phát biểu bài toán</a:t>
            </a:r>
            <a:endParaRPr b="1" dirty="0">
              <a:latin typeface="Oswald" pitchFamily="2" charset="0"/>
            </a:endParaRPr>
          </a:p>
        </p:txBody>
      </p:sp>
      <p:sp>
        <p:nvSpPr>
          <p:cNvPr id="660" name="Google Shape;660;p53">
            <a:extLst>
              <a:ext uri="{FF2B5EF4-FFF2-40B4-BE49-F238E27FC236}">
                <a16:creationId xmlns:a16="http://schemas.microsoft.com/office/drawing/2014/main" id="{95BB089B-1FF9-5FD0-4204-42CFCB366EF7}"/>
              </a:ext>
            </a:extLst>
          </p:cNvPr>
          <p:cNvSpPr txBox="1"/>
          <p:nvPr/>
        </p:nvSpPr>
        <p:spPr>
          <a:xfrm>
            <a:off x="722376" y="3383533"/>
            <a:ext cx="5925700" cy="65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Đầu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vào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: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Âm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thanh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thô</a:t>
            </a: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Đầu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ra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: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Nhãn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dư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̣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báo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cho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biết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âm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thanh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là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thật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hay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gia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̉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mạo</a:t>
            </a: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4C50B4-9DDA-B7E2-67AE-63F4BCD3162C}"/>
              </a:ext>
            </a:extLst>
          </p:cNvPr>
          <p:cNvSpPr/>
          <p:nvPr/>
        </p:nvSpPr>
        <p:spPr>
          <a:xfrm>
            <a:off x="949569" y="2004772"/>
            <a:ext cx="1413803" cy="82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Oswald" pitchFamily="2" charset="0"/>
              </a:rPr>
              <a:t>Âm</a:t>
            </a:r>
            <a:r>
              <a:rPr lang="en-US" dirty="0">
                <a:latin typeface="Oswald" pitchFamily="2" charset="0"/>
              </a:rPr>
              <a:t> </a:t>
            </a:r>
            <a:r>
              <a:rPr lang="en-US" dirty="0" err="1">
                <a:latin typeface="Oswald" pitchFamily="2" charset="0"/>
              </a:rPr>
              <a:t>thanh</a:t>
            </a:r>
            <a:r>
              <a:rPr lang="en-US" dirty="0">
                <a:latin typeface="Oswald" pitchFamily="2" charset="0"/>
              </a:rPr>
              <a:t> </a:t>
            </a:r>
            <a:r>
              <a:rPr lang="en-US" dirty="0" err="1">
                <a:latin typeface="Oswald" pitchFamily="2" charset="0"/>
              </a:rPr>
              <a:t>thô</a:t>
            </a:r>
            <a:endParaRPr lang="en-US" dirty="0">
              <a:latin typeface="Oswald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E8049B-53E4-9B95-7435-76823DAF4B59}"/>
              </a:ext>
            </a:extLst>
          </p:cNvPr>
          <p:cNvSpPr/>
          <p:nvPr/>
        </p:nvSpPr>
        <p:spPr>
          <a:xfrm>
            <a:off x="3685226" y="2004772"/>
            <a:ext cx="1413803" cy="82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Oswald" pitchFamily="2" charset="0"/>
              </a:rPr>
              <a:t>Mô</a:t>
            </a:r>
            <a:r>
              <a:rPr lang="en-US" dirty="0">
                <a:latin typeface="Oswald" pitchFamily="2" charset="0"/>
              </a:rPr>
              <a:t> </a:t>
            </a:r>
            <a:r>
              <a:rPr lang="en-US" dirty="0" err="1">
                <a:latin typeface="Oswald" pitchFamily="2" charset="0"/>
              </a:rPr>
              <a:t>hình</a:t>
            </a:r>
            <a:r>
              <a:rPr lang="en-US" dirty="0">
                <a:latin typeface="Oswald" pitchFamily="2" charset="0"/>
              </a:rPr>
              <a:t> </a:t>
            </a:r>
          </a:p>
          <a:p>
            <a:pPr algn="ctr"/>
            <a:r>
              <a:rPr lang="en-US" dirty="0" err="1">
                <a:latin typeface="Oswald" pitchFamily="2" charset="0"/>
              </a:rPr>
              <a:t>nhận</a:t>
            </a:r>
            <a:r>
              <a:rPr lang="en-US" dirty="0">
                <a:latin typeface="Oswald" pitchFamily="2" charset="0"/>
              </a:rPr>
              <a:t> </a:t>
            </a:r>
            <a:r>
              <a:rPr lang="en-US" dirty="0" err="1">
                <a:latin typeface="Oswald" pitchFamily="2" charset="0"/>
              </a:rPr>
              <a:t>diện</a:t>
            </a:r>
            <a:endParaRPr lang="en-US" dirty="0">
              <a:latin typeface="Oswald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09A94-7831-D23C-403A-57EBFFF824C6}"/>
              </a:ext>
            </a:extLst>
          </p:cNvPr>
          <p:cNvSpPr/>
          <p:nvPr/>
        </p:nvSpPr>
        <p:spPr>
          <a:xfrm>
            <a:off x="6475318" y="2004772"/>
            <a:ext cx="1413803" cy="82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Oswald" pitchFamily="2" charset="0"/>
              </a:rPr>
              <a:t>Nhãn</a:t>
            </a:r>
            <a:r>
              <a:rPr lang="en-US" dirty="0">
                <a:latin typeface="Oswald" pitchFamily="2" charset="0"/>
              </a:rPr>
              <a:t> </a:t>
            </a:r>
            <a:r>
              <a:rPr lang="en-US" dirty="0" err="1">
                <a:latin typeface="Oswald" pitchFamily="2" charset="0"/>
              </a:rPr>
              <a:t>đầu</a:t>
            </a:r>
            <a:r>
              <a:rPr lang="en-US" dirty="0">
                <a:latin typeface="Oswald" pitchFamily="2" charset="0"/>
              </a:rPr>
              <a:t> </a:t>
            </a:r>
            <a:r>
              <a:rPr lang="en-US" dirty="0" err="1">
                <a:latin typeface="Oswald" pitchFamily="2" charset="0"/>
              </a:rPr>
              <a:t>ra</a:t>
            </a:r>
            <a:endParaRPr lang="en-US" dirty="0">
              <a:latin typeface="Oswald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CCD7414-97E2-AF3B-8890-65E8266BB577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363372" y="2416252"/>
            <a:ext cx="13218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821E0C-097B-25A4-934B-590A16D62CB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099029" y="2416252"/>
            <a:ext cx="1376289" cy="4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398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9F78B34F-FB60-86FB-BFE0-9FDFDA701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7EC28DE9-332E-159D-8F88-FFD887724A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Phạm vi bài toán</a:t>
            </a:r>
            <a:endParaRPr b="1" dirty="0">
              <a:latin typeface="Oswald" pitchFamily="2" charset="0"/>
            </a:endParaRPr>
          </a:p>
        </p:txBody>
      </p:sp>
      <p:sp>
        <p:nvSpPr>
          <p:cNvPr id="660" name="Google Shape;660;p53">
            <a:extLst>
              <a:ext uri="{FF2B5EF4-FFF2-40B4-BE49-F238E27FC236}">
                <a16:creationId xmlns:a16="http://schemas.microsoft.com/office/drawing/2014/main" id="{0F5F01DD-3B72-0C64-28C5-494E63026FF3}"/>
              </a:ext>
            </a:extLst>
          </p:cNvPr>
          <p:cNvSpPr txBox="1"/>
          <p:nvPr/>
        </p:nvSpPr>
        <p:spPr>
          <a:xfrm>
            <a:off x="722376" y="1727350"/>
            <a:ext cx="6326124" cy="18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Chỉ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xem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xét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Deepfake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không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xem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xét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các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ky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̃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thuật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khác</a:t>
            </a: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Chỉ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xem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xét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thía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cạnh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âm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thanh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không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xem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xét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thía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cạnh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hình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ảnh</a:t>
            </a: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Chỉ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xem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xét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dư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̃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liệu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giọng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nói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bằng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tiếng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Anh</a:t>
            </a:r>
          </a:p>
        </p:txBody>
      </p:sp>
    </p:spTree>
    <p:extLst>
      <p:ext uri="{BB962C8B-B14F-4D97-AF65-F5344CB8AC3E}">
        <p14:creationId xmlns:p14="http://schemas.microsoft.com/office/powerpoint/2010/main" val="2788379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402E4A81-FE97-B998-AF1D-2096342DB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C2D44788-6C04-8289-08B3-CA608E4A53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Ràng buộc </a:t>
            </a:r>
            <a:endParaRPr b="1" dirty="0">
              <a:latin typeface="Oswald" pitchFamily="2" charset="0"/>
            </a:endParaRPr>
          </a:p>
        </p:txBody>
      </p:sp>
      <p:sp>
        <p:nvSpPr>
          <p:cNvPr id="660" name="Google Shape;660;p53">
            <a:extLst>
              <a:ext uri="{FF2B5EF4-FFF2-40B4-BE49-F238E27FC236}">
                <a16:creationId xmlns:a16="http://schemas.microsoft.com/office/drawing/2014/main" id="{8C2511D8-3E06-DE6F-2D9A-C0A6FBEFE980}"/>
              </a:ext>
            </a:extLst>
          </p:cNvPr>
          <p:cNvSpPr txBox="1"/>
          <p:nvPr/>
        </p:nvSpPr>
        <p:spPr>
          <a:xfrm>
            <a:off x="722376" y="1727350"/>
            <a:ext cx="6326124" cy="18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Âm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thanh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đầu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vào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có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tần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sô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́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lấy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mẫu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là 16 000 Hz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Âm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thanh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đầu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vào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cần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ở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định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dạng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wav</a:t>
            </a:r>
          </a:p>
        </p:txBody>
      </p:sp>
    </p:spTree>
    <p:extLst>
      <p:ext uri="{BB962C8B-B14F-4D97-AF65-F5344CB8AC3E}">
        <p14:creationId xmlns:p14="http://schemas.microsoft.com/office/powerpoint/2010/main" val="3281506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EB205BC1-599B-7ECA-A9C6-9572ED7A0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38297267-C470-702E-AA99-ABFF957A9B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Hướng tiếp cận</a:t>
            </a:r>
            <a:endParaRPr b="1" dirty="0">
              <a:latin typeface="Oswald" pitchFamily="2" charset="0"/>
            </a:endParaRP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14508B9D-C430-610A-804A-1F2E0869447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7416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84927CD9-DDCD-D865-CE18-01C944F04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885D3D1D-430B-D26D-54DB-3BDB535E48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Hướng tiếp cận</a:t>
            </a:r>
            <a:endParaRPr b="1" dirty="0">
              <a:latin typeface="Oswald" pitchFamily="2" charset="0"/>
            </a:endParaRPr>
          </a:p>
        </p:txBody>
      </p:sp>
      <p:sp>
        <p:nvSpPr>
          <p:cNvPr id="660" name="Google Shape;660;p53">
            <a:extLst>
              <a:ext uri="{FF2B5EF4-FFF2-40B4-BE49-F238E27FC236}">
                <a16:creationId xmlns:a16="http://schemas.microsoft.com/office/drawing/2014/main" id="{4B5C7325-DB15-42A7-D5C0-357A218BABEF}"/>
              </a:ext>
            </a:extLst>
          </p:cNvPr>
          <p:cNvSpPr txBox="1"/>
          <p:nvPr/>
        </p:nvSpPr>
        <p:spPr>
          <a:xfrm>
            <a:off x="722376" y="1511374"/>
            <a:ext cx="7418324" cy="1746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Đưa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âm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thanh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qua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một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bô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̣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trích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chọn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đặc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trưng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đê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̉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loại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bo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̉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các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thông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tin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dư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thừa</a:t>
            </a: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Đưa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các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đặc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trưng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qua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một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hình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phân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lớp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va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̀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cho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ra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nhãn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đầu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ra</a:t>
            </a: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597705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6A4A4C5B-0982-9F34-A09B-6908B650D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7D2AC168-CF10-0088-C78B-BE61680CF2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Pha trích chọn đặc trưng</a:t>
            </a:r>
            <a:endParaRPr b="1" dirty="0">
              <a:latin typeface="Oswald" pitchFamily="2" charset="0"/>
            </a:endParaRPr>
          </a:p>
        </p:txBody>
      </p:sp>
      <p:sp>
        <p:nvSpPr>
          <p:cNvPr id="660" name="Google Shape;660;p53">
            <a:extLst>
              <a:ext uri="{FF2B5EF4-FFF2-40B4-BE49-F238E27FC236}">
                <a16:creationId xmlns:a16="http://schemas.microsoft.com/office/drawing/2014/main" id="{C8D8E5A2-D10C-B80D-0FFD-50E75E1398BE}"/>
              </a:ext>
            </a:extLst>
          </p:cNvPr>
          <p:cNvSpPr txBox="1"/>
          <p:nvPr/>
        </p:nvSpPr>
        <p:spPr>
          <a:xfrm>
            <a:off x="722376" y="1511374"/>
            <a:ext cx="7418324" cy="245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Phân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đoạn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âm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thanh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đầu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vào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thành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các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đoạn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con có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kích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thước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25ms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va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̀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chồng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lên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nhau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một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khoảng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10ms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Thực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hiện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trích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chọn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bô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̣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đặc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trưng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MFCC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trên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mỗi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đoạn</a:t>
            </a: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Kết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quả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được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là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một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chuỗi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các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vector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đặc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trưng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mỗi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vector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đặc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trưng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tương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ứng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với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một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đoạn</a:t>
            </a: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811813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88DDE87B-DA62-D0B4-F9FF-4EC76CD1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E19C1DC9-7F18-3D48-333D-03542CA1B1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Pha trích chọn đặc trưng</a:t>
            </a:r>
            <a:endParaRPr b="1" dirty="0">
              <a:latin typeface="Oswald" pitchFamily="2" charset="0"/>
            </a:endParaRPr>
          </a:p>
        </p:txBody>
      </p:sp>
      <p:pic>
        <p:nvPicPr>
          <p:cNvPr id="5" name="Picture 4" descr="A diagram of a sound wave&#10;&#10;AI-generated content may be incorrect.">
            <a:extLst>
              <a:ext uri="{FF2B5EF4-FFF2-40B4-BE49-F238E27FC236}">
                <a16:creationId xmlns:a16="http://schemas.microsoft.com/office/drawing/2014/main" id="{890F8EEF-4976-ACD5-3157-8F12C93B2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020820"/>
            <a:ext cx="4648200" cy="26146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5A5C46-60C6-8578-3CAD-C07A8904C918}"/>
              </a:ext>
            </a:extLst>
          </p:cNvPr>
          <p:cNvSpPr txBox="1"/>
          <p:nvPr/>
        </p:nvSpPr>
        <p:spPr>
          <a:xfrm>
            <a:off x="506476" y="1234488"/>
            <a:ext cx="5080000" cy="70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Phân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đoạn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âm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thanh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đầu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vào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thành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các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đoạn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con có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kích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thước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25ms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va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̀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chồng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lên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nhau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một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khoảng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10ms</a:t>
            </a:r>
          </a:p>
        </p:txBody>
      </p:sp>
    </p:spTree>
    <p:extLst>
      <p:ext uri="{BB962C8B-B14F-4D97-AF65-F5344CB8AC3E}">
        <p14:creationId xmlns:p14="http://schemas.microsoft.com/office/powerpoint/2010/main" val="545119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63456AD7-C60D-88FA-ED53-0C5CB9A1D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2F44ECF7-FB9B-5FB5-A039-5D71494CA1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Pha trích chọn đặc trưng</a:t>
            </a:r>
            <a:endParaRPr b="1" dirty="0">
              <a:latin typeface="Oswa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AC78DB-6F35-5E8C-E2DD-6C464A881230}"/>
              </a:ext>
            </a:extLst>
          </p:cNvPr>
          <p:cNvSpPr txBox="1"/>
          <p:nvPr/>
        </p:nvSpPr>
        <p:spPr>
          <a:xfrm>
            <a:off x="722376" y="1234488"/>
            <a:ext cx="5080000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Thực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hiện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trích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chọn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bô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̣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đặc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trưng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MFCC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trên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mỗi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đoạn</a:t>
            </a: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3" name="Picture 2" descr="A diagram of a sound wave&#10;&#10;AI-generated content may be incorrect.">
            <a:extLst>
              <a:ext uri="{FF2B5EF4-FFF2-40B4-BE49-F238E27FC236}">
                <a16:creationId xmlns:a16="http://schemas.microsoft.com/office/drawing/2014/main" id="{00C1410A-2F82-AD77-E1AD-66A41FF5D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836485"/>
            <a:ext cx="4448772" cy="250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211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FC6AB329-A52F-FE6C-E76B-EBB1E05E0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8E340AE8-46A5-6343-0469-CD202DBBDF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394106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Pha trích chọn đặc trưng</a:t>
            </a:r>
            <a:endParaRPr b="1" dirty="0">
              <a:latin typeface="Oswald" pitchFamily="2" charset="0"/>
            </a:endParaRPr>
          </a:p>
        </p:txBody>
      </p:sp>
      <p:sp>
        <p:nvSpPr>
          <p:cNvPr id="660" name="Google Shape;660;p53">
            <a:extLst>
              <a:ext uri="{FF2B5EF4-FFF2-40B4-BE49-F238E27FC236}">
                <a16:creationId xmlns:a16="http://schemas.microsoft.com/office/drawing/2014/main" id="{76EEBD21-9FDF-1CCC-3E22-929BD36C5512}"/>
              </a:ext>
            </a:extLst>
          </p:cNvPr>
          <p:cNvSpPr txBox="1"/>
          <p:nvPr/>
        </p:nvSpPr>
        <p:spPr>
          <a:xfrm>
            <a:off x="722376" y="1511374"/>
            <a:ext cx="5843524" cy="245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Kết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quả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được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là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một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chuỗi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các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vector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đặc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trưng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mỗi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vector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đặc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trưng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tương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ứng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với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một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lát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cắt</a:t>
            </a: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750361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90457428-9DEB-3965-BDE7-905FFC755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E8174B32-1497-1681-01C7-E1F15ED580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Pha phân lớp</a:t>
            </a:r>
            <a:endParaRPr b="1" dirty="0">
              <a:latin typeface="Oswald" pitchFamily="2" charset="0"/>
            </a:endParaRPr>
          </a:p>
        </p:txBody>
      </p:sp>
      <p:sp>
        <p:nvSpPr>
          <p:cNvPr id="660" name="Google Shape;660;p53">
            <a:extLst>
              <a:ext uri="{FF2B5EF4-FFF2-40B4-BE49-F238E27FC236}">
                <a16:creationId xmlns:a16="http://schemas.microsoft.com/office/drawing/2014/main" id="{5FCB93CA-1A17-DEF3-188A-6EE045FCB65F}"/>
              </a:ext>
            </a:extLst>
          </p:cNvPr>
          <p:cNvSpPr txBox="1"/>
          <p:nvPr/>
        </p:nvSpPr>
        <p:spPr>
          <a:xfrm>
            <a:off x="722376" y="1511374"/>
            <a:ext cx="7268073" cy="1746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Dư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̃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liệu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ở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pha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phân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lớp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là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dư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̃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liệu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dạng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chuỗi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(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tập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vector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đặc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trưng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có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cấu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trúc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tương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tư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̣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nhau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va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̀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xác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định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thư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́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tư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̣)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795840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929F5B02-1526-6582-D819-9A9832660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CA791D22-515C-1C59-7184-9C84DA9551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Pha phân lớp</a:t>
            </a:r>
            <a:endParaRPr b="1" dirty="0">
              <a:latin typeface="Oswald" pitchFamily="2" charset="0"/>
            </a:endParaRPr>
          </a:p>
        </p:txBody>
      </p:sp>
      <p:sp>
        <p:nvSpPr>
          <p:cNvPr id="660" name="Google Shape;660;p53">
            <a:extLst>
              <a:ext uri="{FF2B5EF4-FFF2-40B4-BE49-F238E27FC236}">
                <a16:creationId xmlns:a16="http://schemas.microsoft.com/office/drawing/2014/main" id="{B300B272-FFAA-889F-5BF4-9A8C21E52485}"/>
              </a:ext>
            </a:extLst>
          </p:cNvPr>
          <p:cNvSpPr txBox="1"/>
          <p:nvPr/>
        </p:nvSpPr>
        <p:spPr>
          <a:xfrm>
            <a:off x="722376" y="1377731"/>
            <a:ext cx="7418324" cy="1746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Ta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đưa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dư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̃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liệu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dạng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chuỗi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vào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lớp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LSTM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đê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̉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học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các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đặc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trưng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ngư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̃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cảnh</a:t>
            </a: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3" name="Picture 2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7BE58389-09EC-3982-F656-839B1CB5A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042254"/>
            <a:ext cx="4321048" cy="243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361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EE3F198D-BD4B-9F95-52D1-5619A7C02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9949B722-D768-966B-3411-18684885C1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Pha phân lớp</a:t>
            </a:r>
            <a:endParaRPr b="1" dirty="0">
              <a:latin typeface="Oswald" pitchFamily="2" charset="0"/>
            </a:endParaRPr>
          </a:p>
        </p:txBody>
      </p:sp>
      <p:sp>
        <p:nvSpPr>
          <p:cNvPr id="660" name="Google Shape;660;p53">
            <a:extLst>
              <a:ext uri="{FF2B5EF4-FFF2-40B4-BE49-F238E27FC236}">
                <a16:creationId xmlns:a16="http://schemas.microsoft.com/office/drawing/2014/main" id="{A58DB430-CA8B-63FC-32CF-FD826E3608AF}"/>
              </a:ext>
            </a:extLst>
          </p:cNvPr>
          <p:cNvSpPr txBox="1"/>
          <p:nvPr/>
        </p:nvSpPr>
        <p:spPr>
          <a:xfrm>
            <a:off x="722376" y="1511375"/>
            <a:ext cx="7148498" cy="90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Sau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cùng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ta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đưa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vector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đặc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trưng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h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cuối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cùng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qua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một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lớp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kết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nối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đầy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̉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cùng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hàm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kích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hoạt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softmax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đê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̉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nhận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xác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suất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cho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mỗi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nhãn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đầu</a:t>
            </a:r>
            <a:r>
              <a:rPr lang="en-US" sz="1800" dirty="0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 </a:t>
            </a:r>
            <a:r>
              <a:rPr lang="en-US" sz="1800" dirty="0" err="1">
                <a:solidFill>
                  <a:schemeClr val="dk1"/>
                </a:solidFill>
                <a:latin typeface="Oswald" pitchFamily="2" charset="0"/>
                <a:ea typeface="Hanken Grotesk"/>
                <a:cs typeface="Hanken Grotesk"/>
                <a:sym typeface="Hanken Grotesk"/>
              </a:rPr>
              <a:t>ra</a:t>
            </a: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Oswald" pitchFamily="2" charset="0"/>
              <a:ea typeface="Hanken Grotesk"/>
              <a:cs typeface="Hanken Grotesk"/>
              <a:sym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918859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57583863-9800-59A7-8FDF-CE21679B7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6A8D6CFF-E6EA-0CB3-C9BC-36621418D0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Kiến trúc tổng quát</a:t>
            </a:r>
            <a:endParaRPr b="1" dirty="0">
              <a:latin typeface="Oswald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67A26F-EFE9-6D83-08C0-90B9063C50C6}"/>
              </a:ext>
            </a:extLst>
          </p:cNvPr>
          <p:cNvSpPr/>
          <p:nvPr/>
        </p:nvSpPr>
        <p:spPr>
          <a:xfrm>
            <a:off x="832780" y="3319928"/>
            <a:ext cx="886264" cy="683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Oswald" pitchFamily="2" charset="0"/>
              </a:rPr>
              <a:t>Âm</a:t>
            </a:r>
            <a:r>
              <a:rPr lang="en-US" sz="1200" dirty="0">
                <a:latin typeface="Oswald" pitchFamily="2" charset="0"/>
              </a:rPr>
              <a:t> </a:t>
            </a:r>
            <a:r>
              <a:rPr lang="en-US" sz="1200" dirty="0" err="1">
                <a:latin typeface="Oswald" pitchFamily="2" charset="0"/>
              </a:rPr>
              <a:t>thanh</a:t>
            </a:r>
            <a:r>
              <a:rPr lang="en-US" sz="1200" dirty="0">
                <a:latin typeface="Oswald" pitchFamily="2" charset="0"/>
              </a:rPr>
              <a:t> </a:t>
            </a:r>
            <a:r>
              <a:rPr lang="en-US" sz="1200" dirty="0" err="1">
                <a:latin typeface="Oswald" pitchFamily="2" charset="0"/>
              </a:rPr>
              <a:t>thô</a:t>
            </a:r>
            <a:endParaRPr lang="en-US" sz="1200" dirty="0">
              <a:latin typeface="Oswald" pitchFamily="2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677462-0155-D4DE-F1D1-1DACA12D8A34}"/>
              </a:ext>
            </a:extLst>
          </p:cNvPr>
          <p:cNvGrpSpPr/>
          <p:nvPr/>
        </p:nvGrpSpPr>
        <p:grpSpPr>
          <a:xfrm>
            <a:off x="607257" y="1214406"/>
            <a:ext cx="3679909" cy="1603717"/>
            <a:chOff x="1062110" y="1266092"/>
            <a:chExt cx="3679909" cy="160371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3EF99AE-7486-6D29-E01A-B26FBF280E20}"/>
                </a:ext>
              </a:extLst>
            </p:cNvPr>
            <p:cNvSpPr/>
            <p:nvPr/>
          </p:nvSpPr>
          <p:spPr>
            <a:xfrm>
              <a:off x="1062110" y="1266092"/>
              <a:ext cx="3679909" cy="1603717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Oswald" pitchFamily="2" charset="0"/>
              </a:endParaRPr>
            </a:p>
            <a:p>
              <a:pPr algn="ctr"/>
              <a:endParaRPr lang="en-US" dirty="0">
                <a:latin typeface="Oswald" pitchFamily="2" charset="0"/>
              </a:endParaRPr>
            </a:p>
            <a:p>
              <a:pPr algn="ctr"/>
              <a:endParaRPr lang="en-US" dirty="0">
                <a:latin typeface="Oswald" pitchFamily="2" charset="0"/>
              </a:endParaRPr>
            </a:p>
            <a:p>
              <a:pPr algn="ctr"/>
              <a:endParaRPr lang="en-US" dirty="0">
                <a:latin typeface="Oswald" pitchFamily="2" charset="0"/>
              </a:endParaRPr>
            </a:p>
            <a:p>
              <a:pPr algn="ctr"/>
              <a:endParaRPr lang="en-US" dirty="0">
                <a:latin typeface="Oswald" pitchFamily="2" charset="0"/>
              </a:endParaRPr>
            </a:p>
            <a:p>
              <a:pPr algn="ctr"/>
              <a:endParaRPr lang="en-US" dirty="0">
                <a:latin typeface="Oswald" pitchFamily="2" charset="0"/>
              </a:endParaRPr>
            </a:p>
            <a:p>
              <a:pPr algn="ctr"/>
              <a:r>
                <a:rPr lang="en-US" dirty="0" err="1">
                  <a:solidFill>
                    <a:schemeClr val="tx1"/>
                  </a:solidFill>
                  <a:latin typeface="Oswald" pitchFamily="2" charset="0"/>
                </a:rPr>
                <a:t>Trích</a:t>
              </a:r>
              <a:r>
                <a:rPr lang="en-US" dirty="0">
                  <a:solidFill>
                    <a:schemeClr val="tx1"/>
                  </a:solidFill>
                  <a:latin typeface="Oswald" pitchFamily="2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Oswald" pitchFamily="2" charset="0"/>
                </a:rPr>
                <a:t>chọn</a:t>
              </a:r>
              <a:r>
                <a:rPr lang="en-US" dirty="0">
                  <a:solidFill>
                    <a:schemeClr val="tx1"/>
                  </a:solidFill>
                  <a:latin typeface="Oswald" pitchFamily="2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Oswald" pitchFamily="2" charset="0"/>
                </a:rPr>
                <a:t>đặc</a:t>
              </a:r>
              <a:r>
                <a:rPr lang="en-US" dirty="0">
                  <a:solidFill>
                    <a:schemeClr val="tx1"/>
                  </a:solidFill>
                  <a:latin typeface="Oswald" pitchFamily="2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Oswald" pitchFamily="2" charset="0"/>
                </a:rPr>
                <a:t>trưng</a:t>
              </a:r>
              <a:endParaRPr lang="en-US" dirty="0">
                <a:solidFill>
                  <a:schemeClr val="tx1"/>
                </a:solidFill>
                <a:latin typeface="Oswald" pitchFamily="2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182FCD7-4EAD-5D2C-A775-8A02B6D49EF2}"/>
                </a:ext>
              </a:extLst>
            </p:cNvPr>
            <p:cNvGrpSpPr/>
            <p:nvPr/>
          </p:nvGrpSpPr>
          <p:grpSpPr>
            <a:xfrm>
              <a:off x="1287633" y="1767897"/>
              <a:ext cx="3284367" cy="683186"/>
              <a:chOff x="1287633" y="1767897"/>
              <a:chExt cx="3284367" cy="683186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8686F83-44DE-B749-5A77-EC48B2ED2C76}"/>
                  </a:ext>
                </a:extLst>
              </p:cNvPr>
              <p:cNvSpPr/>
              <p:nvPr/>
            </p:nvSpPr>
            <p:spPr>
              <a:xfrm>
                <a:off x="1287633" y="1767897"/>
                <a:ext cx="886264" cy="68318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latin typeface="Oswald" pitchFamily="2" charset="0"/>
                  </a:rPr>
                  <a:t>Lấy</a:t>
                </a:r>
                <a:r>
                  <a:rPr lang="en-US" sz="1200" dirty="0">
                    <a:latin typeface="Oswald" pitchFamily="2" charset="0"/>
                  </a:rPr>
                  <a:t> </a:t>
                </a:r>
                <a:r>
                  <a:rPr lang="en-US" sz="1200" dirty="0" err="1">
                    <a:latin typeface="Oswald" pitchFamily="2" charset="0"/>
                  </a:rPr>
                  <a:t>ngẫu</a:t>
                </a:r>
                <a:r>
                  <a:rPr lang="en-US" sz="1200" dirty="0">
                    <a:latin typeface="Oswald" pitchFamily="2" charset="0"/>
                  </a:rPr>
                  <a:t>  </a:t>
                </a:r>
                <a:r>
                  <a:rPr lang="en-US" sz="1200" dirty="0" err="1">
                    <a:latin typeface="Oswald" pitchFamily="2" charset="0"/>
                  </a:rPr>
                  <a:t>nhiên</a:t>
                </a:r>
                <a:r>
                  <a:rPr lang="en-US" sz="1200" dirty="0">
                    <a:latin typeface="Oswald" pitchFamily="2" charset="0"/>
                  </a:rPr>
                  <a:t> 4s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33FDDC8-FC86-4FA5-2297-8D83E5A8218F}"/>
                  </a:ext>
                </a:extLst>
              </p:cNvPr>
              <p:cNvSpPr/>
              <p:nvPr/>
            </p:nvSpPr>
            <p:spPr>
              <a:xfrm>
                <a:off x="2405573" y="1767897"/>
                <a:ext cx="942535" cy="68318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latin typeface="Oswald" pitchFamily="2" charset="0"/>
                  </a:rPr>
                  <a:t>Phân</a:t>
                </a:r>
                <a:r>
                  <a:rPr lang="en-US" sz="1200" dirty="0">
                    <a:latin typeface="Oswald" pitchFamily="2" charset="0"/>
                  </a:rPr>
                  <a:t> </a:t>
                </a:r>
                <a:r>
                  <a:rPr lang="en-US" sz="1200" dirty="0" err="1">
                    <a:latin typeface="Oswald" pitchFamily="2" charset="0"/>
                  </a:rPr>
                  <a:t>đoạn</a:t>
                </a:r>
                <a:r>
                  <a:rPr lang="en-US" sz="1200" dirty="0">
                    <a:latin typeface="Oswald" pitchFamily="2" charset="0"/>
                  </a:rPr>
                  <a:t> 25ms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55A0E8F-4600-3ED6-0059-C5F717140D08}"/>
                  </a:ext>
                </a:extLst>
              </p:cNvPr>
              <p:cNvSpPr/>
              <p:nvPr/>
            </p:nvSpPr>
            <p:spPr>
              <a:xfrm>
                <a:off x="3570848" y="1767897"/>
                <a:ext cx="1001152" cy="68318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latin typeface="Oswald" pitchFamily="2" charset="0"/>
                  </a:rPr>
                  <a:t>Trích</a:t>
                </a:r>
                <a:r>
                  <a:rPr lang="en-US" sz="1200" dirty="0">
                    <a:latin typeface="Oswald" pitchFamily="2" charset="0"/>
                  </a:rPr>
                  <a:t> </a:t>
                </a:r>
                <a:r>
                  <a:rPr lang="en-US" sz="1200" dirty="0" err="1">
                    <a:latin typeface="Oswald" pitchFamily="2" charset="0"/>
                  </a:rPr>
                  <a:t>chọn</a:t>
                </a:r>
                <a:r>
                  <a:rPr lang="en-US" sz="1200" dirty="0">
                    <a:latin typeface="Oswald" pitchFamily="2" charset="0"/>
                  </a:rPr>
                  <a:t> </a:t>
                </a:r>
                <a:r>
                  <a:rPr lang="en-US" sz="1200" dirty="0" err="1">
                    <a:latin typeface="Oswald" pitchFamily="2" charset="0"/>
                  </a:rPr>
                  <a:t>đặc</a:t>
                </a:r>
                <a:r>
                  <a:rPr lang="en-US" sz="1200" dirty="0">
                    <a:latin typeface="Oswald" pitchFamily="2" charset="0"/>
                  </a:rPr>
                  <a:t> </a:t>
                </a:r>
                <a:r>
                  <a:rPr lang="en-US" sz="1200" dirty="0" err="1">
                    <a:latin typeface="Oswald" pitchFamily="2" charset="0"/>
                  </a:rPr>
                  <a:t>trưng</a:t>
                </a:r>
                <a:r>
                  <a:rPr lang="en-US" sz="1200" dirty="0">
                    <a:latin typeface="Oswald" pitchFamily="2" charset="0"/>
                  </a:rPr>
                  <a:t> MFCC</a:t>
                </a:r>
              </a:p>
            </p:txBody>
          </p:sp>
        </p:grp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E7989C0-BF36-F168-59DC-FEF28E7108D9}"/>
              </a:ext>
            </a:extLst>
          </p:cNvPr>
          <p:cNvSpPr/>
          <p:nvPr/>
        </p:nvSpPr>
        <p:spPr>
          <a:xfrm>
            <a:off x="4518843" y="1214406"/>
            <a:ext cx="3759092" cy="160371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Oswald" pitchFamily="2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Oswald" pitchFamily="2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Oswald" pitchFamily="2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Oswald" pitchFamily="2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Oswald" pitchFamily="2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Oswald" pitchFamily="2" charset="0"/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  <a:latin typeface="Oswald" pitchFamily="2" charset="0"/>
              </a:rPr>
              <a:t>Mô</a:t>
            </a:r>
            <a:r>
              <a:rPr lang="en-US" dirty="0">
                <a:solidFill>
                  <a:schemeClr val="tx1"/>
                </a:solidFill>
                <a:latin typeface="Oswald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Oswald" pitchFamily="2" charset="0"/>
              </a:rPr>
              <a:t>hình</a:t>
            </a:r>
            <a:r>
              <a:rPr lang="en-US" dirty="0">
                <a:solidFill>
                  <a:schemeClr val="tx1"/>
                </a:solidFill>
                <a:latin typeface="Oswald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Oswald" pitchFamily="2" charset="0"/>
              </a:rPr>
              <a:t>phân</a:t>
            </a:r>
            <a:r>
              <a:rPr lang="en-US" dirty="0">
                <a:solidFill>
                  <a:schemeClr val="tx1"/>
                </a:solidFill>
                <a:latin typeface="Oswald" pitchFamily="2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Oswald" pitchFamily="2" charset="0"/>
              </a:rPr>
              <a:t>lớp</a:t>
            </a:r>
            <a:endParaRPr lang="en-US" dirty="0">
              <a:solidFill>
                <a:schemeClr val="tx1"/>
              </a:solidFill>
              <a:latin typeface="Oswald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286101-C012-36DC-F762-C85D9FF96BFC}"/>
              </a:ext>
            </a:extLst>
          </p:cNvPr>
          <p:cNvSpPr/>
          <p:nvPr/>
        </p:nvSpPr>
        <p:spPr>
          <a:xfrm>
            <a:off x="4727914" y="1729644"/>
            <a:ext cx="886264" cy="683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Oswald" pitchFamily="2" charset="0"/>
              </a:rPr>
              <a:t>Lớp</a:t>
            </a:r>
            <a:r>
              <a:rPr lang="en-US" sz="1200" dirty="0">
                <a:latin typeface="Oswald" pitchFamily="2" charset="0"/>
              </a:rPr>
              <a:t> LSTM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DCF1C8-FA26-91C0-EC8C-AA80AB5B431E}"/>
              </a:ext>
            </a:extLst>
          </p:cNvPr>
          <p:cNvSpPr/>
          <p:nvPr/>
        </p:nvSpPr>
        <p:spPr>
          <a:xfrm>
            <a:off x="7018166" y="1729644"/>
            <a:ext cx="1001152" cy="683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Oswald" pitchFamily="2" charset="0"/>
              </a:rPr>
              <a:t>Hàm</a:t>
            </a:r>
            <a:r>
              <a:rPr lang="en-US" sz="1200" dirty="0">
                <a:latin typeface="Oswald" pitchFamily="2" charset="0"/>
              </a:rPr>
              <a:t> </a:t>
            </a:r>
            <a:r>
              <a:rPr lang="en-US" sz="1200" dirty="0" err="1">
                <a:latin typeface="Oswald" pitchFamily="2" charset="0"/>
              </a:rPr>
              <a:t>softmax</a:t>
            </a:r>
            <a:endParaRPr lang="en-US" sz="1200" dirty="0">
              <a:latin typeface="Oswald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4FCEC2-D57F-DC11-998D-E3BCD3D5F55C}"/>
              </a:ext>
            </a:extLst>
          </p:cNvPr>
          <p:cNvSpPr/>
          <p:nvPr/>
        </p:nvSpPr>
        <p:spPr>
          <a:xfrm>
            <a:off x="5807808" y="1729644"/>
            <a:ext cx="1001152" cy="683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Oswald" pitchFamily="2" charset="0"/>
              </a:rPr>
              <a:t>Lớp</a:t>
            </a:r>
            <a:r>
              <a:rPr lang="en-US" sz="1200" dirty="0">
                <a:latin typeface="Oswald" pitchFamily="2" charset="0"/>
              </a:rPr>
              <a:t> Dense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C32264-A5E1-37BE-E394-01C61D201F14}"/>
              </a:ext>
            </a:extLst>
          </p:cNvPr>
          <p:cNvSpPr/>
          <p:nvPr/>
        </p:nvSpPr>
        <p:spPr>
          <a:xfrm>
            <a:off x="7075610" y="3319928"/>
            <a:ext cx="886264" cy="683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Oswald" pitchFamily="2" charset="0"/>
              </a:rPr>
              <a:t>Nhãn</a:t>
            </a:r>
            <a:r>
              <a:rPr lang="en-US" sz="1200" dirty="0">
                <a:latin typeface="Oswald" pitchFamily="2" charset="0"/>
              </a:rPr>
              <a:t> </a:t>
            </a:r>
            <a:r>
              <a:rPr lang="en-US" sz="1200" dirty="0" err="1">
                <a:latin typeface="Oswald" pitchFamily="2" charset="0"/>
              </a:rPr>
              <a:t>đầu</a:t>
            </a:r>
            <a:r>
              <a:rPr lang="en-US" sz="1200" dirty="0">
                <a:latin typeface="Oswald" pitchFamily="2" charset="0"/>
              </a:rPr>
              <a:t> </a:t>
            </a:r>
            <a:r>
              <a:rPr lang="en-US" sz="1200" dirty="0" err="1">
                <a:latin typeface="Oswald" pitchFamily="2" charset="0"/>
              </a:rPr>
              <a:t>ra</a:t>
            </a:r>
            <a:endParaRPr lang="en-US" sz="1200" dirty="0">
              <a:latin typeface="Oswald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7FDCAB-CA90-94E9-E43C-BC4FE4FAC8B7}"/>
              </a:ext>
            </a:extLst>
          </p:cNvPr>
          <p:cNvCxnSpPr>
            <a:stCxn id="2" idx="0"/>
          </p:cNvCxnSpPr>
          <p:nvPr/>
        </p:nvCxnSpPr>
        <p:spPr>
          <a:xfrm flipV="1">
            <a:off x="1275912" y="2412830"/>
            <a:ext cx="0" cy="907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816CCE-90E1-0E35-181A-BA84F866C490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719044" y="2057804"/>
            <a:ext cx="2316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D68E833-6001-7370-FEF9-C05ED9C93982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893255" y="2057804"/>
            <a:ext cx="2227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3ED28C1-BF3C-0E81-6F55-3DF56D49816A}"/>
              </a:ext>
            </a:extLst>
          </p:cNvPr>
          <p:cNvCxnSpPr>
            <a:endCxn id="9" idx="1"/>
          </p:cNvCxnSpPr>
          <p:nvPr/>
        </p:nvCxnSpPr>
        <p:spPr>
          <a:xfrm>
            <a:off x="4117147" y="2071237"/>
            <a:ext cx="6107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37FACA1-C6F0-92D3-68E7-93EAEF9F32A4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5614178" y="2071237"/>
            <a:ext cx="1936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F5CDDD6-B301-CC8A-462E-122007216722}"/>
              </a:ext>
            </a:extLst>
          </p:cNvPr>
          <p:cNvCxnSpPr>
            <a:endCxn id="11" idx="1"/>
          </p:cNvCxnSpPr>
          <p:nvPr/>
        </p:nvCxnSpPr>
        <p:spPr>
          <a:xfrm>
            <a:off x="6808960" y="2071237"/>
            <a:ext cx="2092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Arrow Connector 640">
            <a:extLst>
              <a:ext uri="{FF2B5EF4-FFF2-40B4-BE49-F238E27FC236}">
                <a16:creationId xmlns:a16="http://schemas.microsoft.com/office/drawing/2014/main" id="{12649000-02BC-126F-0F81-9B274386CB84}"/>
              </a:ext>
            </a:extLst>
          </p:cNvPr>
          <p:cNvCxnSpPr>
            <a:stCxn id="11" idx="2"/>
            <a:endCxn id="17" idx="0"/>
          </p:cNvCxnSpPr>
          <p:nvPr/>
        </p:nvCxnSpPr>
        <p:spPr>
          <a:xfrm>
            <a:off x="7518742" y="2412830"/>
            <a:ext cx="0" cy="907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164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E2A4FE24-2742-B27E-9043-F3298E5D9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6584BBE0-63AC-DF71-B9FD-64A5D522A2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Thực nghiệm</a:t>
            </a:r>
            <a:endParaRPr b="1" dirty="0">
              <a:latin typeface="Oswald" pitchFamily="2" charset="0"/>
            </a:endParaRP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0A356046-8CB8-1D24-5FEF-3CD63B59345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2046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CA33612F-DFE7-A1FF-6D29-3BDD891D9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9A9B1722-ECBE-0C64-AF09-FC86FEA0B5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Các mô hình được cài đặt</a:t>
            </a:r>
            <a:endParaRPr b="1" dirty="0">
              <a:latin typeface="Oswald" pitchFamily="2" charset="0"/>
            </a:endParaRPr>
          </a:p>
        </p:txBody>
      </p:sp>
      <p:sp>
        <p:nvSpPr>
          <p:cNvPr id="660" name="Google Shape;660;p53">
            <a:extLst>
              <a:ext uri="{FF2B5EF4-FFF2-40B4-BE49-F238E27FC236}">
                <a16:creationId xmlns:a16="http://schemas.microsoft.com/office/drawing/2014/main" id="{12FD7D81-6C5A-BB7F-848D-FA7983106D92}"/>
              </a:ext>
            </a:extLst>
          </p:cNvPr>
          <p:cNvSpPr txBox="1"/>
          <p:nvPr/>
        </p:nvSpPr>
        <p:spPr>
          <a:xfrm>
            <a:off x="722376" y="1511375"/>
            <a:ext cx="741832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hình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LSTM, RNN, Random Forest, SVM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kern="100" dirty="0">
              <a:latin typeface="Oswald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565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BC8B822C-D043-CE57-C474-FD71069FC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6A015574-4D92-B8F1-535D-468B79E72E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4"/>
            <a:ext cx="7708500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Siêu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tham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sô</a:t>
            </a:r>
            <a:r>
              <a:rPr lang="en-US" b="1" dirty="0">
                <a:latin typeface="Oswald" pitchFamily="2" charset="0"/>
              </a:rPr>
              <a:t>́ </a:t>
            </a:r>
            <a:r>
              <a:rPr lang="en-US" b="1" dirty="0" err="1">
                <a:latin typeface="Oswald" pitchFamily="2" charset="0"/>
              </a:rPr>
              <a:t>cho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mạng</a:t>
            </a:r>
            <a:r>
              <a:rPr lang="en-US" b="1" dirty="0">
                <a:latin typeface="Oswald" pitchFamily="2" charset="0"/>
              </a:rPr>
              <a:t> LSTM</a:t>
            </a:r>
            <a:endParaRPr lang="en-US" dirty="0">
              <a:latin typeface="Oswald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D9F053-2BF1-6909-AC2A-BD5B5B3AE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432"/>
              </p:ext>
            </p:extLst>
          </p:nvPr>
        </p:nvGraphicFramePr>
        <p:xfrm>
          <a:off x="722376" y="1495594"/>
          <a:ext cx="5298596" cy="1971361"/>
        </p:xfrm>
        <a:graphic>
          <a:graphicData uri="http://schemas.openxmlformats.org/drawingml/2006/table">
            <a:tbl>
              <a:tblPr firstRow="1" firstCol="1" bandRow="1">
                <a:tableStyleId>{A0422EF5-0865-4F65-969D-77A4994D77BE}</a:tableStyleId>
              </a:tblPr>
              <a:tblGrid>
                <a:gridCol w="3073553">
                  <a:extLst>
                    <a:ext uri="{9D8B030D-6E8A-4147-A177-3AD203B41FA5}">
                      <a16:colId xmlns:a16="http://schemas.microsoft.com/office/drawing/2014/main" val="1258359591"/>
                    </a:ext>
                  </a:extLst>
                </a:gridCol>
                <a:gridCol w="2225043">
                  <a:extLst>
                    <a:ext uri="{9D8B030D-6E8A-4147-A177-3AD203B41FA5}">
                      <a16:colId xmlns:a16="http://schemas.microsoft.com/office/drawing/2014/main" val="3616649858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Thành </a:t>
                      </a: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phần</a:t>
                      </a:r>
                      <a:endParaRPr lang="en-US" sz="1400" b="1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Thông </a:t>
                      </a: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sô</a:t>
                      </a: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́</a:t>
                      </a:r>
                      <a:endParaRPr lang="en-US" sz="1400" b="1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4745548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 err="1">
                          <a:effectLst/>
                          <a:latin typeface="Oswald" pitchFamily="2" charset="0"/>
                        </a:rPr>
                        <a:t>Kích</a:t>
                      </a: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kern="0" dirty="0" err="1">
                          <a:effectLst/>
                          <a:latin typeface="Oswald" pitchFamily="2" charset="0"/>
                        </a:rPr>
                        <a:t>thước</a:t>
                      </a: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kern="0" dirty="0" err="1">
                          <a:effectLst/>
                          <a:latin typeface="Oswald" pitchFamily="2" charset="0"/>
                        </a:rPr>
                        <a:t>một</a:t>
                      </a: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kern="0" dirty="0" err="1">
                          <a:effectLst/>
                          <a:latin typeface="Oswald" pitchFamily="2" charset="0"/>
                        </a:rPr>
                        <a:t>bước</a:t>
                      </a: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kern="0" dirty="0" err="1">
                          <a:effectLst/>
                          <a:latin typeface="Oswald" pitchFamily="2" charset="0"/>
                        </a:rPr>
                        <a:t>thời</a:t>
                      </a: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kern="0" dirty="0" err="1">
                          <a:effectLst/>
                          <a:latin typeface="Oswald" pitchFamily="2" charset="0"/>
                        </a:rPr>
                        <a:t>gian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13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3556487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 err="1">
                          <a:effectLst/>
                          <a:latin typeface="Oswald" pitchFamily="2" charset="0"/>
                        </a:rPr>
                        <a:t>Kích</a:t>
                      </a: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kern="0" dirty="0" err="1">
                          <a:effectLst/>
                          <a:latin typeface="Oswald" pitchFamily="2" charset="0"/>
                        </a:rPr>
                        <a:t>thước</a:t>
                      </a: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kern="0" dirty="0" err="1">
                          <a:effectLst/>
                          <a:latin typeface="Oswald" pitchFamily="2" charset="0"/>
                        </a:rPr>
                        <a:t>trạng</a:t>
                      </a: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kern="0" dirty="0" err="1">
                          <a:effectLst/>
                          <a:latin typeface="Oswald" pitchFamily="2" charset="0"/>
                        </a:rPr>
                        <a:t>thái</a:t>
                      </a: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kern="0" dirty="0" err="1">
                          <a:effectLst/>
                          <a:latin typeface="Oswald" pitchFamily="2" charset="0"/>
                        </a:rPr>
                        <a:t>ẩn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64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1538663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Tầng ẩn phi tuyến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32, ReLU()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547918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Tầng đầu ra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2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941591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Hàm mất mát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 err="1">
                          <a:effectLst/>
                          <a:latin typeface="Oswald" pitchFamily="2" charset="0"/>
                        </a:rPr>
                        <a:t>CrossEntropyLoss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28119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Trọng số lớp 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[4.15, 1.0]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6770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346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86A11643-3696-63D9-C855-900EC5043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6E36C057-C5F4-C1A6-3E4C-2B037D979C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Chiến lược huấn luyện</a:t>
            </a:r>
            <a:endParaRPr b="1" dirty="0">
              <a:latin typeface="Oswald" pitchFamily="2" charset="0"/>
            </a:endParaRPr>
          </a:p>
        </p:txBody>
      </p:sp>
      <p:sp>
        <p:nvSpPr>
          <p:cNvPr id="660" name="Google Shape;660;p53">
            <a:extLst>
              <a:ext uri="{FF2B5EF4-FFF2-40B4-BE49-F238E27FC236}">
                <a16:creationId xmlns:a16="http://schemas.microsoft.com/office/drawing/2014/main" id="{1D4BF17F-A073-F561-0C4D-DEC5F4D06A6E}"/>
              </a:ext>
            </a:extLst>
          </p:cNvPr>
          <p:cNvSpPr txBox="1"/>
          <p:nvPr/>
        </p:nvSpPr>
        <p:spPr>
          <a:xfrm>
            <a:off x="722376" y="1511374"/>
            <a:ext cx="7418324" cy="163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Các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hình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học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sâu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RNN, LSTM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làm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việc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trực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tiếp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với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chuỗi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thời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gian</a:t>
            </a:r>
            <a:endParaRPr lang="en-US" sz="1800" kern="100" dirty="0">
              <a:latin typeface="Oswald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Các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hình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học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máy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làm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việc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với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gia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́ trị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trung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bình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đô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̣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lệnh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chuẩn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của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các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vector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đặc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trưng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chuỗi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thời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gian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86374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37FA5CA1-AD2E-6D84-FD0B-2ABDA1FB4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511B7278-4EB9-AD23-59C4-8ED021406A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4"/>
            <a:ext cx="7708500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Dư</a:t>
            </a:r>
            <a:r>
              <a:rPr lang="en-US" b="1" dirty="0">
                <a:latin typeface="Oswald" pitchFamily="2" charset="0"/>
              </a:rPr>
              <a:t>̃ </a:t>
            </a:r>
            <a:r>
              <a:rPr lang="en-US" b="1" dirty="0" err="1">
                <a:latin typeface="Oswald" pitchFamily="2" charset="0"/>
              </a:rPr>
              <a:t>liệu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thực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nghiệm</a:t>
            </a:r>
            <a:endParaRPr lang="en-US" dirty="0">
              <a:latin typeface="Oswald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91BE30-C0F5-DED6-AFCE-B11BA77DF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416050"/>
              </p:ext>
            </p:extLst>
          </p:nvPr>
        </p:nvGraphicFramePr>
        <p:xfrm>
          <a:off x="1093946" y="2174875"/>
          <a:ext cx="6956108" cy="1408115"/>
        </p:xfrm>
        <a:graphic>
          <a:graphicData uri="http://schemas.openxmlformats.org/drawingml/2006/table">
            <a:tbl>
              <a:tblPr firstRow="1" firstCol="1" bandRow="1">
                <a:tableStyleId>{A0422EF5-0865-4F65-969D-77A4994D77BE}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3706348855"/>
                    </a:ext>
                  </a:extLst>
                </a:gridCol>
                <a:gridCol w="1891348">
                  <a:extLst>
                    <a:ext uri="{9D8B030D-6E8A-4147-A177-3AD203B41FA5}">
                      <a16:colId xmlns:a16="http://schemas.microsoft.com/office/drawing/2014/main" val="2848826465"/>
                    </a:ext>
                  </a:extLst>
                </a:gridCol>
                <a:gridCol w="1921510">
                  <a:extLst>
                    <a:ext uri="{9D8B030D-6E8A-4147-A177-3AD203B41FA5}">
                      <a16:colId xmlns:a16="http://schemas.microsoft.com/office/drawing/2014/main" val="2798257804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19531333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Tập</a:t>
                      </a: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dữ</a:t>
                      </a: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liệu</a:t>
                      </a:r>
                      <a:endParaRPr lang="en-US" sz="1400" b="1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Số</a:t>
                      </a: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lượng</a:t>
                      </a: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mẫu</a:t>
                      </a: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nhãn</a:t>
                      </a: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 real</a:t>
                      </a:r>
                      <a:endParaRPr lang="en-US" sz="1400" b="1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Số</a:t>
                      </a: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lượng</a:t>
                      </a: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mẫu</a:t>
                      </a: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nhãn</a:t>
                      </a: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 fake</a:t>
                      </a:r>
                      <a:endParaRPr lang="en-US" sz="1400" b="1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Tổng</a:t>
                      </a: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cộng</a:t>
                      </a:r>
                      <a:endParaRPr lang="en-US" sz="1400" b="1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0785757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train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2.525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1.066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13.185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670358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dev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2.548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10.295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12.843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4166391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eval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6.334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26.412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32.746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420733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 err="1">
                          <a:effectLst/>
                          <a:latin typeface="Oswald" pitchFamily="2" charset="0"/>
                        </a:rPr>
                        <a:t>Tổng</a:t>
                      </a: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kern="0" dirty="0" err="1">
                          <a:effectLst/>
                          <a:latin typeface="Oswald" pitchFamily="2" charset="0"/>
                        </a:rPr>
                        <a:t>cộng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11.407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47.367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58.774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90483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7217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AE067DB7-6623-F613-BE7C-82FC5A41F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58EB387E-FC88-423E-1EC6-99FA9597E5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4"/>
            <a:ext cx="7708500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Môi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trường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thực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nghiệm</a:t>
            </a:r>
            <a:endParaRPr lang="en-US" dirty="0">
              <a:latin typeface="Oswa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E33EE-3BDF-6C16-5E3D-79B233DA9F5A}"/>
              </a:ext>
            </a:extLst>
          </p:cNvPr>
          <p:cNvSpPr txBox="1"/>
          <p:nvPr/>
        </p:nvSpPr>
        <p:spPr>
          <a:xfrm>
            <a:off x="713125" y="1314437"/>
            <a:ext cx="4780310" cy="2612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Phần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cứng</a:t>
            </a:r>
            <a:endParaRPr lang="en-US" sz="1800" kern="100" dirty="0">
              <a:effectLst/>
              <a:latin typeface="Oswald" pitchFamily="2" charset="0"/>
              <a:ea typeface="Aptos" panose="020B0004020202020204" pitchFamily="34" charset="0"/>
              <a:cs typeface="Cordia New" panose="020B0304020202020204" pitchFamily="34" charset="-34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CPU: Intel Core i5-12500H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RAM: 16.0 GB DDR4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GPU: NVIDIA GeForce RTX 3060 Laptop GPU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Ổ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cứng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: SSD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NVMe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512GB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kern="100" dirty="0">
              <a:latin typeface="Oswald" pitchFamily="2" charset="0"/>
              <a:ea typeface="Aptos" panose="020B0004020202020204" pitchFamily="34" charset="0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77365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5182E3DE-B52F-735A-D853-9415EAF05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E571A49A-C1F0-BA5D-CA87-E2FDE53B55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4"/>
            <a:ext cx="7708500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Môi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trường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thực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nghiệm</a:t>
            </a:r>
            <a:endParaRPr lang="en-US" dirty="0">
              <a:latin typeface="Oswa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AF8FB-6BF3-2342-4DAA-F48B81D01AB1}"/>
              </a:ext>
            </a:extLst>
          </p:cNvPr>
          <p:cNvSpPr txBox="1"/>
          <p:nvPr/>
        </p:nvSpPr>
        <p:spPr>
          <a:xfrm>
            <a:off x="713125" y="1314437"/>
            <a:ext cx="4780310" cy="211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Phần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mềm</a:t>
            </a:r>
            <a:endParaRPr lang="en-US" sz="1800" kern="100" dirty="0">
              <a:effectLst/>
              <a:latin typeface="Oswald" pitchFamily="2" charset="0"/>
              <a:ea typeface="Aptos" panose="020B0004020202020204" pitchFamily="34" charset="0"/>
              <a:cs typeface="Cordia New" panose="020B0304020202020204" pitchFamily="34" charset="-34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Hê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̣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điều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hành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dirty="0">
                <a:effectLst/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Windows 11 </a:t>
            </a:r>
            <a:endParaRPr lang="en-US" sz="1800" kern="100" dirty="0">
              <a:latin typeface="Oswald" pitchFamily="2" charset="0"/>
              <a:ea typeface="Aptos" panose="020B0004020202020204" pitchFamily="34" charset="0"/>
              <a:cs typeface="Cordia New" panose="020B0304020202020204" pitchFamily="34" charset="-34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Ngôn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ngư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̃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lập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trình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Python,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thư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viện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Pytorch</a:t>
            </a:r>
            <a:endParaRPr lang="en-US" sz="1800" kern="100" dirty="0">
              <a:latin typeface="Oswald" pitchFamily="2" charset="0"/>
              <a:ea typeface="Aptos" panose="020B0004020202020204" pitchFamily="34" charset="0"/>
              <a:cs typeface="Cordia New" panose="020B0304020202020204" pitchFamily="34" charset="-34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Driver Cuda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kern="100" dirty="0">
              <a:latin typeface="Oswald" pitchFamily="2" charset="0"/>
              <a:ea typeface="Aptos" panose="020B0004020202020204" pitchFamily="34" charset="0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41571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B3AF858B-CEC9-71C8-A728-3939BB56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F62D5400-97DB-8D98-C029-E037EBAF08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4"/>
            <a:ext cx="7708500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Tiêu</a:t>
            </a:r>
            <a:r>
              <a:rPr lang="en-US" b="1" dirty="0">
                <a:latin typeface="Oswald" pitchFamily="2" charset="0"/>
              </a:rPr>
              <a:t> chí </a:t>
            </a:r>
            <a:r>
              <a:rPr lang="en-US" b="1" dirty="0" err="1">
                <a:latin typeface="Oswald" pitchFamily="2" charset="0"/>
              </a:rPr>
              <a:t>đánh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gia</a:t>
            </a:r>
            <a:r>
              <a:rPr lang="en-US" b="1" dirty="0">
                <a:latin typeface="Oswald" pitchFamily="2" charset="0"/>
              </a:rPr>
              <a:t>́</a:t>
            </a:r>
            <a:endParaRPr lang="en-US" dirty="0">
              <a:latin typeface="Oswa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F5B6D-106B-A63E-443C-B09BA9D17639}"/>
              </a:ext>
            </a:extLst>
          </p:cNvPr>
          <p:cNvSpPr txBox="1"/>
          <p:nvPr/>
        </p:nvSpPr>
        <p:spPr>
          <a:xfrm>
            <a:off x="722376" y="1618064"/>
            <a:ext cx="5207156" cy="45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</a:pP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Sư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̉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dụng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các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thông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sô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Cordia New" panose="020B0304020202020204" pitchFamily="34" charset="-34"/>
              </a:rPr>
              <a:t>́: Accuracy, F1</a:t>
            </a:r>
          </a:p>
        </p:txBody>
      </p:sp>
    </p:spTree>
    <p:extLst>
      <p:ext uri="{BB962C8B-B14F-4D97-AF65-F5344CB8AC3E}">
        <p14:creationId xmlns:p14="http://schemas.microsoft.com/office/powerpoint/2010/main" val="3494886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7D4E8055-6A88-690C-BB81-281D8C51E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741660E3-222B-C91B-C65D-7EECE1A2AF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Đánh giá</a:t>
            </a:r>
            <a:endParaRPr b="1" dirty="0">
              <a:latin typeface="Oswald" pitchFamily="2" charset="0"/>
            </a:endParaRP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25C0C816-2E2C-0E60-1A7B-1EE0103B0F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18945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847C7E1C-6E59-D4B6-DFC9-55CE7678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6BE96238-27EA-2F20-B1A7-021AC9F3DC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4"/>
            <a:ext cx="3506724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Kết</a:t>
            </a:r>
            <a:r>
              <a:rPr lang="en-US" b="1" dirty="0">
                <a:latin typeface="Oswald" pitchFamily="2" charset="0"/>
              </a:rPr>
              <a:t> quả </a:t>
            </a:r>
            <a:r>
              <a:rPr lang="en-US" b="1" dirty="0" err="1">
                <a:latin typeface="Oswald" pitchFamily="2" charset="0"/>
              </a:rPr>
              <a:t>thực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nghiệm</a:t>
            </a:r>
            <a:endParaRPr lang="en-US" dirty="0">
              <a:latin typeface="Oswald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4FF725-53A7-45D0-D83D-3A227C888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259995"/>
              </p:ext>
            </p:extLst>
          </p:nvPr>
        </p:nvGraphicFramePr>
        <p:xfrm>
          <a:off x="556260" y="1647030"/>
          <a:ext cx="8031480" cy="1602742"/>
        </p:xfrm>
        <a:graphic>
          <a:graphicData uri="http://schemas.openxmlformats.org/drawingml/2006/table">
            <a:tbl>
              <a:tblPr firstRow="1" firstCol="1" bandRow="1">
                <a:tableStyleId>{A0422EF5-0865-4F65-969D-77A4994D77BE}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3128911246"/>
                    </a:ext>
                  </a:extLst>
                </a:gridCol>
                <a:gridCol w="1013460">
                  <a:extLst>
                    <a:ext uri="{9D8B030D-6E8A-4147-A177-3AD203B41FA5}">
                      <a16:colId xmlns:a16="http://schemas.microsoft.com/office/drawing/2014/main" val="756878154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3622235040"/>
                    </a:ext>
                  </a:extLst>
                </a:gridCol>
                <a:gridCol w="1470660">
                  <a:extLst>
                    <a:ext uri="{9D8B030D-6E8A-4147-A177-3AD203B41FA5}">
                      <a16:colId xmlns:a16="http://schemas.microsoft.com/office/drawing/2014/main" val="393525497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79764514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585680706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Mô</a:t>
                      </a: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 </a:t>
                      </a:r>
                      <a:r>
                        <a:rPr lang="en-US" sz="1400" b="1" kern="0" dirty="0" err="1">
                          <a:effectLst/>
                          <a:latin typeface="Oswald" pitchFamily="2" charset="0"/>
                        </a:rPr>
                        <a:t>hình</a:t>
                      </a:r>
                      <a:endParaRPr lang="en-US" sz="1400" b="1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Accuracy</a:t>
                      </a:r>
                      <a:endParaRPr lang="en-US" sz="1400" b="1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0">
                          <a:effectLst/>
                          <a:latin typeface="Oswald" pitchFamily="2" charset="0"/>
                        </a:rPr>
                        <a:t>F1-score (real)</a:t>
                      </a:r>
                      <a:endParaRPr lang="en-US" sz="1400" b="1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F1-score (fake)</a:t>
                      </a:r>
                      <a:endParaRPr lang="en-US" sz="1400" b="1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Macro F1</a:t>
                      </a:r>
                      <a:endParaRPr lang="en-US" sz="1400" b="1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b="1" kern="0" dirty="0">
                          <a:effectLst/>
                          <a:latin typeface="Oswald" pitchFamily="2" charset="0"/>
                        </a:rPr>
                        <a:t>Weighted F1</a:t>
                      </a:r>
                      <a:endParaRPr lang="en-US" sz="1400" b="1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28699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SVM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93.60%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0.82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0.9611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0.8905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0.9338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422068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Random Forest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91.35%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0.7279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0.9485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0.8382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0.9059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262155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LSTM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89.55%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0.7038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0.9365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0.8202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0.8915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509922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RNN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80.76%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0.0311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Oswald" pitchFamily="2" charset="0"/>
                        </a:rPr>
                        <a:t>0.8932</a:t>
                      </a:r>
                      <a:endParaRPr lang="en-US" sz="1400" kern="10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0.4621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Oswald" pitchFamily="2" charset="0"/>
                        </a:rPr>
                        <a:t>0.7265</a:t>
                      </a:r>
                      <a:endParaRPr lang="en-US" sz="1400" kern="100" dirty="0">
                        <a:effectLst/>
                        <a:latin typeface="Oswald" pitchFamily="2" charset="0"/>
                        <a:ea typeface="Aptos" panose="020B0004020202020204" pitchFamily="34" charset="0"/>
                        <a:cs typeface="Cordia New" panose="020B0304020202020204" pitchFamily="34" charset="-34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78123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8961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E0B2E0D6-1413-04D6-D751-233DAAC2E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23B5DF7B-22E1-B22A-7957-B82D443B7F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4"/>
            <a:ext cx="3506724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Kết</a:t>
            </a:r>
            <a:r>
              <a:rPr lang="en-US" b="1" dirty="0">
                <a:latin typeface="Oswald" pitchFamily="2" charset="0"/>
              </a:rPr>
              <a:t> quả </a:t>
            </a:r>
            <a:r>
              <a:rPr lang="en-US" b="1" dirty="0" err="1">
                <a:latin typeface="Oswald" pitchFamily="2" charset="0"/>
              </a:rPr>
              <a:t>thực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nghiệm</a:t>
            </a:r>
            <a:endParaRPr lang="en-US" dirty="0">
              <a:latin typeface="Oswald" pitchFamily="2" charset="0"/>
            </a:endParaRPr>
          </a:p>
        </p:txBody>
      </p:sp>
      <p:pic>
        <p:nvPicPr>
          <p:cNvPr id="2" name="Picture 1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249CED7-BBDF-07B8-5334-381D0B2A33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"/>
          <a:stretch/>
        </p:blipFill>
        <p:spPr bwMode="auto">
          <a:xfrm>
            <a:off x="838200" y="1259316"/>
            <a:ext cx="5889371" cy="34391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02375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807C8B15-E6C0-B693-5CD1-708CF11A9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F21B37DE-E69A-801A-8E58-9B9E54694F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4"/>
            <a:ext cx="3506724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Nhận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xét</a:t>
            </a:r>
            <a:endParaRPr lang="en-US" dirty="0">
              <a:latin typeface="Oswa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6EC469-DE0D-7079-6D43-89585F74DE95}"/>
              </a:ext>
            </a:extLst>
          </p:cNvPr>
          <p:cNvSpPr txBox="1"/>
          <p:nvPr/>
        </p:nvSpPr>
        <p:spPr>
          <a:xfrm>
            <a:off x="722375" y="1441905"/>
            <a:ext cx="7612733" cy="1227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SVM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kết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quả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tốt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nhất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với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cả 4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thông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sô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́,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điểm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accuracy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đạt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93.6% 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Xếp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SVM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lần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lượt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là Random Forest, LSTM, RNN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RNN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kết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quả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tê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̣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nhất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gần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như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bo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̉ qua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lớp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thật</a:t>
            </a:r>
            <a:endParaRPr lang="en-US" sz="1800" kern="100" dirty="0">
              <a:effectLst/>
              <a:latin typeface="Oswald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2AEE5FC-248F-87A6-A88F-A2B7C128D7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"/>
          <a:stretch/>
        </p:blipFill>
        <p:spPr bwMode="auto">
          <a:xfrm>
            <a:off x="817075" y="2730201"/>
            <a:ext cx="3317326" cy="19371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3689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5592A783-35DE-3C3B-7E2C-B4744D3BB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016B25DB-9CC3-8E55-1FA9-7ABE0D64E9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4"/>
            <a:ext cx="3506724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Nhận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xét</a:t>
            </a:r>
            <a:endParaRPr lang="en-US" dirty="0">
              <a:latin typeface="Oswa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8C157B-11B9-851C-17C9-3F2F33208BB9}"/>
              </a:ext>
            </a:extLst>
          </p:cNvPr>
          <p:cNvSpPr txBox="1"/>
          <p:nvPr/>
        </p:nvSpPr>
        <p:spPr>
          <a:xfrm>
            <a:off x="722375" y="1441905"/>
            <a:ext cx="7612733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Thông tin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ngư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̃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cảnh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thực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sư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̣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cần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thiết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, chỉ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cần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đến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thông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tin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phối</a:t>
            </a:r>
            <a:endParaRPr lang="en-US" sz="1800" kern="100" dirty="0">
              <a:effectLst/>
              <a:latin typeface="Oswald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0311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FE9CDA4C-5B0C-4718-95A5-D8EA8BA43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318B1F0B-8A75-F892-09EB-BC40C9E76C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swald" pitchFamily="2" charset="0"/>
              </a:rPr>
              <a:t>Demo</a:t>
            </a:r>
            <a:endParaRPr b="1" dirty="0">
              <a:latin typeface="Oswald" pitchFamily="2" charset="0"/>
            </a:endParaRPr>
          </a:p>
        </p:txBody>
      </p:sp>
      <p:sp>
        <p:nvSpPr>
          <p:cNvPr id="331" name="Google Shape;331;p36">
            <a:extLst>
              <a:ext uri="{FF2B5EF4-FFF2-40B4-BE49-F238E27FC236}">
                <a16:creationId xmlns:a16="http://schemas.microsoft.com/office/drawing/2014/main" id="{DCB6E371-EF33-A9B5-CA97-FBD8D941571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533550"/>
            <a:ext cx="824400" cy="70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564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89A4A639-018B-15EE-A6DA-1CDFF02D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78440050-0AA7-640C-E5EC-DEBE7A04C5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4"/>
            <a:ext cx="3506724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Kịch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bản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sư</a:t>
            </a:r>
            <a:r>
              <a:rPr lang="en-US" b="1" dirty="0">
                <a:latin typeface="Oswald" pitchFamily="2" charset="0"/>
              </a:rPr>
              <a:t>̉ </a:t>
            </a:r>
            <a:r>
              <a:rPr lang="en-US" b="1" dirty="0" err="1">
                <a:latin typeface="Oswald" pitchFamily="2" charset="0"/>
              </a:rPr>
              <a:t>dụng</a:t>
            </a:r>
            <a:endParaRPr lang="en-US" dirty="0">
              <a:latin typeface="Oswa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0AF1A7-259B-0656-8EC3-69FF52A3E132}"/>
              </a:ext>
            </a:extLst>
          </p:cNvPr>
          <p:cNvSpPr txBox="1"/>
          <p:nvPr/>
        </p:nvSpPr>
        <p:spPr>
          <a:xfrm>
            <a:off x="722375" y="1441905"/>
            <a:ext cx="7612733" cy="1864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Người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dùng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nghe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được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một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giọng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nói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tiếng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Anh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một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thiết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bị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va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̀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nghi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ngơ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̀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được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tạo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bởi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Deepfake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Người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dùng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ghi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âm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lại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bằng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phần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mềm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ghi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âm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va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̀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lưu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dưới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định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dạng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wav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Người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dùng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sư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̉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dụng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ứng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dụng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đê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̉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tích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âm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thanh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đa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̃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ghi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xem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liệu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có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phải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là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âm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thanh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gia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̉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mạo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hay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endParaRPr lang="en-US" sz="1800" kern="100" dirty="0">
              <a:effectLst/>
              <a:latin typeface="Oswald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092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038EADD8-86EE-4BB4-B23D-764A628E0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6CF57E91-A0DA-D3C4-5D5B-577B314F02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4"/>
            <a:ext cx="3506724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Chức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năng</a:t>
            </a:r>
            <a:endParaRPr lang="en-US" dirty="0">
              <a:latin typeface="Oswa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DEC6C9-2289-1AEE-4CCE-D7210E3A80B8}"/>
              </a:ext>
            </a:extLst>
          </p:cNvPr>
          <p:cNvSpPr txBox="1"/>
          <p:nvPr/>
        </p:nvSpPr>
        <p:spPr>
          <a:xfrm>
            <a:off x="722375" y="1441905"/>
            <a:ext cx="7612733" cy="8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Tải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lên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âm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thanh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định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dạng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wav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tích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đê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̉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tra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̉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vê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̀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kết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quả</a:t>
            </a:r>
            <a:endParaRPr lang="en-US" sz="1800" kern="100" dirty="0">
              <a:effectLst/>
              <a:latin typeface="Oswald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3378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119AF74E-31CA-B3F4-C837-E1DBDB662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4DFF71B2-F62B-A03B-DD63-64554C7804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4"/>
            <a:ext cx="3506724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Trải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nghiệm</a:t>
            </a:r>
            <a:endParaRPr lang="en-US" dirty="0">
              <a:latin typeface="Oswa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BBF3FF-AFD0-952F-09FC-A75DC8BC54CC}"/>
              </a:ext>
            </a:extLst>
          </p:cNvPr>
          <p:cNvSpPr txBox="1"/>
          <p:nvPr/>
        </p:nvSpPr>
        <p:spPr>
          <a:xfrm>
            <a:off x="722375" y="1441905"/>
            <a:ext cx="7612733" cy="8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Màn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hình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khởi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chạy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ứng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dụng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kern="100" dirty="0">
              <a:effectLst/>
              <a:latin typeface="Oswald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8CB190-A4B9-1127-5B01-120FA8D18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92" y="2001422"/>
            <a:ext cx="382905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2542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5662769F-EB30-EA2E-C1CA-5A4B2C5E7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19C36AF6-D133-F5B9-9BDA-8B2588BA79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4"/>
            <a:ext cx="3506724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Trải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nghiệm</a:t>
            </a:r>
            <a:endParaRPr lang="en-US" dirty="0">
              <a:latin typeface="Oswa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AEBFB9-7681-40E0-B369-3D455EC59396}"/>
              </a:ext>
            </a:extLst>
          </p:cNvPr>
          <p:cNvSpPr txBox="1"/>
          <p:nvPr/>
        </p:nvSpPr>
        <p:spPr>
          <a:xfrm>
            <a:off x="722375" y="1441905"/>
            <a:ext cx="7612733" cy="8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Màn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hình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khởi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chạy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ứng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dụng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kern="100" dirty="0">
              <a:effectLst/>
              <a:latin typeface="Oswald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B603F3-F747-1347-EA77-74B6EFD01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92" y="2001422"/>
            <a:ext cx="382905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6885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8D9D4D5C-BB8A-51DD-1078-81033F2EA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40954F2F-0967-7DF7-6398-057CAAE083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4"/>
            <a:ext cx="3506724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Trải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nghiệm</a:t>
            </a:r>
            <a:endParaRPr lang="en-US" dirty="0">
              <a:latin typeface="Oswa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176A21-36C1-6E87-C346-74C9479E330B}"/>
              </a:ext>
            </a:extLst>
          </p:cNvPr>
          <p:cNvSpPr txBox="1"/>
          <p:nvPr/>
        </p:nvSpPr>
        <p:spPr>
          <a:xfrm>
            <a:off x="722375" y="1441905"/>
            <a:ext cx="7612733" cy="8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Cửa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sô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̉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yêu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cầu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người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dùng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chọn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file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âm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thanh</a:t>
            </a:r>
            <a:endParaRPr lang="en-US" sz="1800" kern="100" dirty="0">
              <a:effectLst/>
              <a:latin typeface="Oswald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kern="100" dirty="0">
              <a:effectLst/>
              <a:latin typeface="Oswald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98562E-F3CC-C500-5F75-8C97E0497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92" y="1971236"/>
            <a:ext cx="4205094" cy="236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124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401B9C59-FB39-C2FC-728B-7C812B575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D70737A2-599F-F800-66C5-05DE151B20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445024"/>
            <a:ext cx="3506724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Trải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nghiệm</a:t>
            </a:r>
            <a:endParaRPr lang="en-US" dirty="0">
              <a:latin typeface="Oswa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3D307C-5426-2026-2F4F-94D5771877DC}"/>
              </a:ext>
            </a:extLst>
          </p:cNvPr>
          <p:cNvSpPr txBox="1"/>
          <p:nvPr/>
        </p:nvSpPr>
        <p:spPr>
          <a:xfrm>
            <a:off x="722375" y="1441905"/>
            <a:ext cx="7612733" cy="8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Hê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̣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thống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tính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toán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va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̀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tra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̉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vê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̀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kết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quả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kern="100" dirty="0">
              <a:effectLst/>
              <a:latin typeface="Oswald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E03C94-96E7-D435-7F69-19F96A42D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92" y="2022524"/>
            <a:ext cx="382905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274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907791F4-2C8C-07BF-8628-F90122C94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4B9FF1B9-0541-293B-A85E-B2DCAB3048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8638" y="332482"/>
            <a:ext cx="3506724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Kết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luận</a:t>
            </a:r>
            <a:r>
              <a:rPr lang="en-US" b="1" dirty="0">
                <a:latin typeface="Oswald" pitchFamily="2" charset="0"/>
              </a:rPr>
              <a:t> </a:t>
            </a:r>
            <a:endParaRPr lang="en-US" dirty="0">
              <a:latin typeface="Oswa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9E2FB-D540-6234-C3F6-767506C862C5}"/>
              </a:ext>
            </a:extLst>
          </p:cNvPr>
          <p:cNvSpPr txBox="1"/>
          <p:nvPr/>
        </p:nvSpPr>
        <p:spPr>
          <a:xfrm>
            <a:off x="722375" y="1441905"/>
            <a:ext cx="7612733" cy="2285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Đê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̀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tài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đa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̃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xây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dựng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thành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công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hình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mạng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nơ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ron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LSTM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phép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nhận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diện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âm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thanh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gia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̉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mạo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được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tạo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bởi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Deepfake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hình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ra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kết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quả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tốt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chỉ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sau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SVM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va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̀ Random Forest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Đê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̀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tài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cũng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đa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̃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xây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dựng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chương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trình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demo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tích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hợp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hình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phép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xác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định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tính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tin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cậy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của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một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tệp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âm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thanh</a:t>
            </a:r>
            <a:endParaRPr lang="en-US" sz="1800" kern="100" dirty="0">
              <a:effectLst/>
              <a:latin typeface="Oswald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sz="1800" kern="100" dirty="0">
              <a:latin typeface="Oswald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253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58FCE2AC-5082-11AD-A332-F3DB7AA73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3">
            <a:extLst>
              <a:ext uri="{FF2B5EF4-FFF2-40B4-BE49-F238E27FC236}">
                <a16:creationId xmlns:a16="http://schemas.microsoft.com/office/drawing/2014/main" id="{F4A6BBDC-7CD5-57ED-019A-15805C9C3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8638" y="332482"/>
            <a:ext cx="3506724" cy="936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Oswald" pitchFamily="2" charset="0"/>
              </a:rPr>
              <a:t>Hướng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phát</a:t>
            </a:r>
            <a:r>
              <a:rPr lang="en-US" b="1" dirty="0">
                <a:latin typeface="Oswald" pitchFamily="2" charset="0"/>
              </a:rPr>
              <a:t> </a:t>
            </a:r>
            <a:r>
              <a:rPr lang="en-US" b="1" dirty="0" err="1">
                <a:latin typeface="Oswald" pitchFamily="2" charset="0"/>
              </a:rPr>
              <a:t>triển</a:t>
            </a:r>
            <a:endParaRPr lang="en-US" dirty="0">
              <a:latin typeface="Oswa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8CCED9-16F8-3514-DC81-3B5EBC27257C}"/>
              </a:ext>
            </a:extLst>
          </p:cNvPr>
          <p:cNvSpPr txBox="1"/>
          <p:nvPr/>
        </p:nvSpPr>
        <p:spPr>
          <a:xfrm>
            <a:off x="722375" y="1441905"/>
            <a:ext cx="7612733" cy="8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Bô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̉ sung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các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cơ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chê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́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xư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̉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ly</a:t>
            </a:r>
            <a:r>
              <a:rPr lang="en-US" sz="1800" kern="100" dirty="0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́ </a:t>
            </a:r>
            <a:r>
              <a:rPr lang="en-US" sz="1800" kern="100" dirty="0" err="1">
                <a:effectLst/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nhiễu</a:t>
            </a:r>
            <a:endParaRPr lang="en-US" sz="1800" kern="100" dirty="0">
              <a:effectLst/>
              <a:latin typeface="Oswald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Xây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dựng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quy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trình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fine-tune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hình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đê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̉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cập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nhật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tham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sô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́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với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dư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̃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liệu</a:t>
            </a:r>
            <a:r>
              <a:rPr lang="en-US" sz="1800" kern="100" dirty="0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latin typeface="Oswald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mới</a:t>
            </a:r>
            <a:endParaRPr lang="en-US" sz="1800" kern="100" dirty="0">
              <a:latin typeface="Oswald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7923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AD483CF4-BCDC-B31A-3A70-B9C4ACA7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>
            <a:extLst>
              <a:ext uri="{FF2B5EF4-FFF2-40B4-BE49-F238E27FC236}">
                <a16:creationId xmlns:a16="http://schemas.microsoft.com/office/drawing/2014/main" id="{9A4C645D-FAB9-65B1-7DC0-E0A9908885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159" y="1764255"/>
            <a:ext cx="4549141" cy="16149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b="1" dirty="0">
                <a:latin typeface="Oswald" pitchFamily="2" charset="0"/>
              </a:rPr>
              <a:t>Cảm ơn thầy cô đã lắng nghe</a:t>
            </a:r>
            <a:endParaRPr b="1" dirty="0">
              <a:latin typeface="Oswa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327700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1095</Words>
  <Application>Microsoft Office PowerPoint</Application>
  <PresentationFormat>On-screen Show (16:9)</PresentationFormat>
  <Paragraphs>212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Hanken Grotesk</vt:lpstr>
      <vt:lpstr>Lato</vt:lpstr>
      <vt:lpstr>Oswald</vt:lpstr>
      <vt:lpstr>Figtree Black</vt:lpstr>
      <vt:lpstr>Elegant Black &amp; White Thesis Defense by Slidesgo</vt:lpstr>
      <vt:lpstr>  Đề tài: Xây Dựng Bộ Phát Hiện Giọng Nói Bị Giả Mạo Được Tạo Bởi Deepfake Bằng Mô Hình LSTM</vt:lpstr>
      <vt:lpstr>Lý do chọn đề tài</vt:lpstr>
      <vt:lpstr>Nội dung</vt:lpstr>
      <vt:lpstr>Phát biểu bài toán</vt:lpstr>
      <vt:lpstr>Phát biểu bài toán</vt:lpstr>
      <vt:lpstr>Phạm vi bài toán</vt:lpstr>
      <vt:lpstr>Ràng buộc </vt:lpstr>
      <vt:lpstr>Hướng tiếp cận</vt:lpstr>
      <vt:lpstr>Hướng tiếp cận</vt:lpstr>
      <vt:lpstr>Pha trích chọn đặc trưng</vt:lpstr>
      <vt:lpstr>Pha trích chọn đặc trưng</vt:lpstr>
      <vt:lpstr>Pha trích chọn đặc trưng</vt:lpstr>
      <vt:lpstr>Pha trích chọn đặc trưng</vt:lpstr>
      <vt:lpstr>Pha phân lớp</vt:lpstr>
      <vt:lpstr>Pha phân lớp</vt:lpstr>
      <vt:lpstr>Pha phân lớp</vt:lpstr>
      <vt:lpstr>Kiến trúc tổng quát</vt:lpstr>
      <vt:lpstr>Thực nghiệm</vt:lpstr>
      <vt:lpstr>Các mô hình được cài đặt</vt:lpstr>
      <vt:lpstr>Siêu tham số cho mạng LSTM</vt:lpstr>
      <vt:lpstr>Chiến lược huấn luyện</vt:lpstr>
      <vt:lpstr>Dữ liệu thực nghiệm</vt:lpstr>
      <vt:lpstr>Môi trường thực nghiệm</vt:lpstr>
      <vt:lpstr>Môi trường thực nghiệm</vt:lpstr>
      <vt:lpstr>Tiêu chí đánh giá</vt:lpstr>
      <vt:lpstr>Đánh giá</vt:lpstr>
      <vt:lpstr>Kết quả thực nghiệm</vt:lpstr>
      <vt:lpstr>Kết quả thực nghiệm</vt:lpstr>
      <vt:lpstr>Nhận xét</vt:lpstr>
      <vt:lpstr>Nhận xét</vt:lpstr>
      <vt:lpstr>Demo</vt:lpstr>
      <vt:lpstr>Kịch bản sử dụng</vt:lpstr>
      <vt:lpstr>Chức năng</vt:lpstr>
      <vt:lpstr>Trải nghiệm</vt:lpstr>
      <vt:lpstr>Trải nghiệm</vt:lpstr>
      <vt:lpstr>Trải nghiệm</vt:lpstr>
      <vt:lpstr>Trải nghiệm</vt:lpstr>
      <vt:lpstr>Kết luận </vt:lpstr>
      <vt:lpstr>Hướng phát triển</vt:lpstr>
      <vt:lpstr>Cảm ơn thầy cô đã lắng nghe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Truong Bui</dc:creator>
  <cp:lastModifiedBy>Giang Truong Bui</cp:lastModifiedBy>
  <cp:revision>27</cp:revision>
  <dcterms:modified xsi:type="dcterms:W3CDTF">2025-05-26T09:33:50Z</dcterms:modified>
</cp:coreProperties>
</file>